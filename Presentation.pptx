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E2E6"/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E6E0"/>
          </a:solidFill>
        </a:fill>
      </a:tcStyle>
    </a:wholeTbl>
    <a:band2H>
      <a:tcTxStyle b="def" i="def"/>
      <a:tcStyle>
        <a:tcBdr/>
        <a:fill>
          <a:solidFill>
            <a:srgbClr val="EEF3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6DCE4"/>
          </a:solidFill>
        </a:fill>
      </a:tcStyle>
    </a:wholeTbl>
    <a:band2H>
      <a:tcTxStyle b="def" i="def"/>
      <a:tcStyle>
        <a:tcBdr/>
        <a:fill>
          <a:solidFill>
            <a:srgbClr val="F3EEF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3585F"/>
              </a:solidFill>
              <a:prstDash val="solid"/>
              <a:round/>
            </a:ln>
          </a:top>
          <a:bottom>
            <a:ln w="254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3585F"/>
              </a:solidFill>
              <a:prstDash val="solid"/>
              <a:round/>
            </a:ln>
          </a:top>
          <a:bottom>
            <a:ln w="254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0D1"/>
          </a:solidFill>
        </a:fill>
      </a:tcStyle>
    </a:wholeTbl>
    <a:band2H>
      <a:tcTxStyle b="def" i="def"/>
      <a:tcStyle>
        <a:tcBdr/>
        <a:fill>
          <a:solidFill>
            <a:srgbClr val="E9E9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3585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358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12700" cap="flat">
              <a:solidFill>
                <a:srgbClr val="53585F"/>
              </a:solidFill>
              <a:prstDash val="solid"/>
              <a:round/>
            </a:ln>
          </a:top>
          <a:bottom>
            <a:ln w="127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solidFill>
            <a:srgbClr val="53585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12700" cap="flat">
              <a:solidFill>
                <a:srgbClr val="53585F"/>
              </a:solidFill>
              <a:prstDash val="solid"/>
              <a:round/>
            </a:ln>
          </a:top>
          <a:bottom>
            <a:ln w="127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solidFill>
            <a:srgbClr val="53585F">
              <a:alpha val="20000"/>
            </a:srgbClr>
          </a:solidFill>
        </a:fill>
      </a:tcStyle>
    </a:firstCol>
    <a:la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50800" cap="flat">
              <a:solidFill>
                <a:srgbClr val="53585F"/>
              </a:solidFill>
              <a:prstDash val="solid"/>
              <a:round/>
            </a:ln>
          </a:top>
          <a:bottom>
            <a:ln w="127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12700" cap="flat">
              <a:solidFill>
                <a:srgbClr val="53585F"/>
              </a:solidFill>
              <a:prstDash val="solid"/>
              <a:round/>
            </a:ln>
          </a:top>
          <a:bottom>
            <a:ln w="254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2268950"/>
            <a:ext cx="21971000" cy="660403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8343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2915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7487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22059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Уровень текста 1…"/>
          <p:cNvSpPr txBox="1"/>
          <p:nvPr>
            <p:ph type="body" sz="quarter" idx="2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13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5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Белая изогнутая конструкция футуристичного вида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8343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2915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7487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2205988" indent="-377188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Уровень текста 1…"/>
          <p:cNvSpPr txBox="1"/>
          <p:nvPr>
            <p:ph type="body" sz="quarter" idx="22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24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5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Многослойный белый криволинейный узор крупным планом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3335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Изогнутый край белого камня крупным планом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22" hasCustomPrompt="1"/>
          </p:nvPr>
        </p:nvSpPr>
        <p:spPr>
          <a:xfrm>
            <a:off x="1206500" y="4248503"/>
            <a:ext cx="9779000" cy="8256015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5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5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39116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0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Подзаголовок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9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Темы повестки дня</a:t>
            </a:r>
          </a:p>
        </p:txBody>
      </p:sp>
      <p:sp>
        <p:nvSpPr>
          <p:cNvPr id="110" name="Заголовок повестки дня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99"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868678" indent="-411479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325878" indent="-411478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783078" indent="-411478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2240278" indent="-411478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pPr/>
            <a:r>
              <a:t>Авторство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Уровень текста 1…"/>
          <p:cNvSpPr txBox="1"/>
          <p:nvPr>
            <p:ph type="body" sz="quarter" idx="2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/>
          <a:p>
            <a:pPr lvl="4" marL="0" indent="2407920" defTabSz="1463039">
              <a:lnSpc>
                <a:spcPct val="90000"/>
              </a:lnSpc>
              <a:spcBef>
                <a:spcPts val="0"/>
              </a:spcBef>
              <a:buSzTx/>
              <a:buNone/>
              <a:defRPr spc="-99" sz="5500">
                <a:latin typeface="Produkt Extralight"/>
                <a:ea typeface="Produkt Extralight"/>
                <a:cs typeface="Produkt Extralight"/>
                <a:sym typeface="Produkt Extralight"/>
              </a:defRPr>
            </a:pPr>
            <a:r>
              <a:t>«Важная цитата»
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ногослойный белый криволинейный узор крупным планом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Многослойный узор из серого камня крупным планом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Белый ребристый узор крупным планом"/>
          <p:cNvSpPr/>
          <p:nvPr>
            <p:ph type="pic" sz="quarter" idx="23"/>
          </p:nvPr>
        </p:nvSpPr>
        <p:spPr>
          <a:xfrm>
            <a:off x="14621932" y="3632200"/>
            <a:ext cx="9677403" cy="64572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Угловатый белый коридор футуристичного вида с тенями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23558499" y="12458701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solidFill>
                  <a:srgbClr val="535860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1pPr>
      <a:lvl2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2pPr>
      <a:lvl3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3pPr>
      <a:lvl4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4pPr>
      <a:lvl5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5pPr>
      <a:lvl6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6pPr>
      <a:lvl7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7pPr>
      <a:lvl8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8pPr>
      <a:lvl9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Белая изогнутая конструкция футуристичного вида" descr="Белая изогнутая конструкция футуристичного вида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26467" r="10322" b="6274"/>
          <a:stretch>
            <a:fillRect/>
          </a:stretch>
        </p:blipFill>
        <p:spPr>
          <a:xfrm>
            <a:off x="-1" y="0"/>
            <a:ext cx="24384002" cy="13716000"/>
          </a:xfrm>
          <a:prstGeom prst="rect">
            <a:avLst/>
          </a:prstGeom>
        </p:spPr>
      </p:pic>
      <p:sp>
        <p:nvSpPr>
          <p:cNvPr id="172" name="Преподаватель: Рычихин Ярослав Алексеевич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Преподаватель: Рычихин Ярослав Алексеевич </a:t>
            </a:r>
          </a:p>
        </p:txBody>
      </p:sp>
      <p:sp>
        <p:nvSpPr>
          <p:cNvPr id="173" name="Выполнили:  Абляшев Доминик Айратович  Белослудцева Валерия Андреевна  Пивкин Егор Андреевич"/>
          <p:cNvSpPr txBox="1"/>
          <p:nvPr>
            <p:ph type="body" idx="22"/>
          </p:nvPr>
        </p:nvSpPr>
        <p:spPr>
          <a:xfrm>
            <a:off x="1206499" y="7353299"/>
            <a:ext cx="21971002" cy="29143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627379">
              <a:defRPr sz="4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Выполнили: </a:t>
            </a:r>
            <a:br/>
            <a:r>
              <a:t>Абляшев Доминик Айратович </a:t>
            </a:r>
            <a:br/>
            <a:r>
              <a:t>Белослудцева Валерия Андреевна </a:t>
            </a:r>
            <a:br/>
            <a:r>
              <a:t>Пивкин Егор Андреевич </a:t>
            </a:r>
          </a:p>
        </p:txBody>
      </p:sp>
      <p:sp>
        <p:nvSpPr>
          <p:cNvPr id="174" name="Тема: «Разработка системы управления задачами с использованием SQLite»"/>
          <p:cNvSpPr txBox="1"/>
          <p:nvPr>
            <p:ph type="title"/>
          </p:nvPr>
        </p:nvSpPr>
        <p:spPr>
          <a:xfrm>
            <a:off x="1206498" y="2616200"/>
            <a:ext cx="21971008" cy="4648200"/>
          </a:xfrm>
          <a:prstGeom prst="rect">
            <a:avLst/>
          </a:prstGeom>
        </p:spPr>
        <p:txBody>
          <a:bodyPr/>
          <a:lstStyle>
            <a:lvl1pPr defTabSz="312926">
              <a:defRPr spc="-200" sz="10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Тема: «Разработка системы управления задачами с использованием SQLite»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Содержа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Содержание </a:t>
            </a:r>
          </a:p>
        </p:txBody>
      </p:sp>
      <p:sp>
        <p:nvSpPr>
          <p:cNvPr id="177" name="Введение…"/>
          <p:cNvSpPr txBox="1"/>
          <p:nvPr>
            <p:ph type="body" idx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457200" indent="-457200" defTabSz="355600">
              <a:spcBef>
                <a:spcPts val="4700"/>
              </a:spcBef>
              <a:buSzPct val="100000"/>
              <a:buChar char="•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Введение </a:t>
            </a:r>
          </a:p>
          <a:p>
            <a:pPr marL="457200" indent="-457200" defTabSz="355600">
              <a:spcBef>
                <a:spcPts val="4700"/>
              </a:spcBef>
              <a:buSzPct val="100000"/>
              <a:buChar char="•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Теоретическая часть </a:t>
            </a:r>
          </a:p>
          <a:p>
            <a:pPr marL="457200" indent="-457200" defTabSz="355600">
              <a:spcBef>
                <a:spcPts val="4700"/>
              </a:spcBef>
              <a:buSzPct val="100000"/>
              <a:buChar char="•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Практическая часть </a:t>
            </a:r>
          </a:p>
          <a:p>
            <a:pPr marL="457200" indent="-457200" defTabSz="355600">
              <a:spcBef>
                <a:spcPts val="4700"/>
              </a:spcBef>
              <a:buSzPct val="100000"/>
              <a:buChar char="•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Тестирование системы </a:t>
            </a:r>
          </a:p>
          <a:p>
            <a:pPr marL="457200" indent="-457200" defTabSz="355600">
              <a:spcBef>
                <a:spcPts val="4700"/>
              </a:spcBef>
              <a:buSzPct val="100000"/>
              <a:buChar char="•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Заключение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Цель: Разработка программного модуля для управления задачами с базовыми операциями (CRUD) и долговременным хранением в SQLite…"/>
          <p:cNvSpPr txBox="1"/>
          <p:nvPr>
            <p:ph type="body" idx="1"/>
          </p:nvPr>
        </p:nvSpPr>
        <p:spPr>
          <a:xfrm>
            <a:off x="1206500" y="3022972"/>
            <a:ext cx="21971002" cy="8117487"/>
          </a:xfrm>
          <a:prstGeom prst="rect">
            <a:avLst/>
          </a:prstGeom>
        </p:spPr>
        <p:txBody>
          <a:bodyPr/>
          <a:lstStyle/>
          <a:p>
            <a:pPr algn="just" defTabSz="457200">
              <a:spcBef>
                <a:spcPts val="1600"/>
              </a:spcBef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Цель: </a:t>
            </a:r>
            <a:r>
              <a:rPr b="0"/>
              <a:t>разработка программного модуля для управления задачами с базовыми операциями (CRUD) и хранением в SQLite</a:t>
            </a:r>
            <a:br>
              <a:rPr b="0"/>
            </a:br>
          </a:p>
          <a:p>
            <a:pPr defTabSz="457200">
              <a:spcBef>
                <a:spcPts val="1600"/>
              </a:spcBef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Задачи:</a:t>
            </a:r>
          </a:p>
          <a:p>
            <a:pPr marL="457200" indent="-317500" algn="just" defTabSz="457200"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Изучить основы систем управления задачами и баз данных.</a:t>
            </a:r>
          </a:p>
          <a:p>
            <a:pPr marL="457200" indent="-317500" algn="just" defTabSz="457200"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Спроектировать базу данных.</a:t>
            </a:r>
          </a:p>
          <a:p>
            <a:pPr marL="457200" indent="-317500" algn="just" defTabSz="457200"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Реализовать функции добавления, редактирования, удаления задач.</a:t>
            </a:r>
          </a:p>
          <a:p>
            <a:pPr marL="457200" indent="-317500" algn="just" defTabSz="457200"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Организовать работу с данными (сохранение, извлечение, обработка ошибок).</a:t>
            </a:r>
          </a:p>
          <a:p>
            <a:pPr marL="457200" indent="-317500" algn="just" defTabSz="457200"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Протестировать систему и проанализировать результаты.</a:t>
            </a:r>
          </a:p>
        </p:txBody>
      </p:sp>
      <p:sp>
        <p:nvSpPr>
          <p:cNvPr id="180" name="Введ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Введение</a:t>
            </a:r>
            <a:r>
              <a:rPr>
                <a:latin typeface="Produkt Extralight"/>
                <a:ea typeface="Produkt Extralight"/>
                <a:cs typeface="Produkt Extralight"/>
                <a:sym typeface="Produkt Extralight"/>
              </a:rPr>
              <a:t> </a:t>
            </a:r>
          </a:p>
        </p:txBody>
      </p:sp>
      <p:pic>
        <p:nvPicPr>
          <p:cNvPr id="181" name="telegram-cloud-document-2-5357313059935262177.jpg" descr="telegram-cloud-document-2-5357313059935262177.jpg"/>
          <p:cNvPicPr>
            <a:picLocks noChangeAspect="1"/>
          </p:cNvPicPr>
          <p:nvPr/>
        </p:nvPicPr>
        <p:blipFill>
          <a:blip r:embed="rId2">
            <a:extLst/>
          </a:blip>
          <a:srcRect l="2748" t="5755" r="2806" b="6253"/>
          <a:stretch>
            <a:fillRect/>
          </a:stretch>
        </p:blipFill>
        <p:spPr>
          <a:xfrm>
            <a:off x="16961956" y="9369031"/>
            <a:ext cx="6159550" cy="2718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88" fill="norm" stroke="1" extrusionOk="0">
                <a:moveTo>
                  <a:pt x="7500" y="0"/>
                </a:moveTo>
                <a:cubicBezTo>
                  <a:pt x="7324" y="0"/>
                  <a:pt x="7017" y="290"/>
                  <a:pt x="6807" y="652"/>
                </a:cubicBezTo>
                <a:lnTo>
                  <a:pt x="6665" y="895"/>
                </a:lnTo>
                <a:lnTo>
                  <a:pt x="3585" y="923"/>
                </a:lnTo>
                <a:cubicBezTo>
                  <a:pt x="163" y="954"/>
                  <a:pt x="344" y="919"/>
                  <a:pt x="120" y="1629"/>
                </a:cubicBezTo>
                <a:lnTo>
                  <a:pt x="16" y="1957"/>
                </a:lnTo>
                <a:lnTo>
                  <a:pt x="5" y="9839"/>
                </a:lnTo>
                <a:cubicBezTo>
                  <a:pt x="-7" y="17568"/>
                  <a:pt x="-6" y="17731"/>
                  <a:pt x="81" y="18142"/>
                </a:cubicBezTo>
                <a:cubicBezTo>
                  <a:pt x="139" y="18411"/>
                  <a:pt x="233" y="18642"/>
                  <a:pt x="344" y="18782"/>
                </a:cubicBezTo>
                <a:cubicBezTo>
                  <a:pt x="514" y="18999"/>
                  <a:pt x="541" y="19000"/>
                  <a:pt x="2536" y="19000"/>
                </a:cubicBezTo>
                <a:cubicBezTo>
                  <a:pt x="4100" y="19000"/>
                  <a:pt x="4568" y="19028"/>
                  <a:pt x="4602" y="19126"/>
                </a:cubicBezTo>
                <a:cubicBezTo>
                  <a:pt x="4626" y="19195"/>
                  <a:pt x="4657" y="19520"/>
                  <a:pt x="4673" y="19847"/>
                </a:cubicBezTo>
                <a:cubicBezTo>
                  <a:pt x="4689" y="20175"/>
                  <a:pt x="4725" y="20640"/>
                  <a:pt x="4752" y="20881"/>
                </a:cubicBezTo>
                <a:cubicBezTo>
                  <a:pt x="4832" y="21600"/>
                  <a:pt x="4838" y="21313"/>
                  <a:pt x="4762" y="20402"/>
                </a:cubicBezTo>
                <a:cubicBezTo>
                  <a:pt x="4617" y="18673"/>
                  <a:pt x="4739" y="15335"/>
                  <a:pt x="5040" y="12766"/>
                </a:cubicBezTo>
                <a:cubicBezTo>
                  <a:pt x="5311" y="10450"/>
                  <a:pt x="5536" y="9135"/>
                  <a:pt x="6033" y="6965"/>
                </a:cubicBezTo>
                <a:cubicBezTo>
                  <a:pt x="6487" y="4983"/>
                  <a:pt x="7156" y="2795"/>
                  <a:pt x="7246" y="2997"/>
                </a:cubicBezTo>
                <a:cubicBezTo>
                  <a:pt x="7271" y="3055"/>
                  <a:pt x="7184" y="3468"/>
                  <a:pt x="7021" y="4081"/>
                </a:cubicBezTo>
                <a:cubicBezTo>
                  <a:pt x="6474" y="6128"/>
                  <a:pt x="5873" y="9059"/>
                  <a:pt x="5516" y="11408"/>
                </a:cubicBezTo>
                <a:cubicBezTo>
                  <a:pt x="5298" y="12848"/>
                  <a:pt x="5003" y="15336"/>
                  <a:pt x="5023" y="15561"/>
                </a:cubicBezTo>
                <a:cubicBezTo>
                  <a:pt x="5030" y="15646"/>
                  <a:pt x="5094" y="15519"/>
                  <a:pt x="5177" y="15256"/>
                </a:cubicBezTo>
                <a:cubicBezTo>
                  <a:pt x="5324" y="14791"/>
                  <a:pt x="5698" y="14082"/>
                  <a:pt x="5912" y="13863"/>
                </a:cubicBezTo>
                <a:cubicBezTo>
                  <a:pt x="6022" y="13750"/>
                  <a:pt x="6219" y="13204"/>
                  <a:pt x="6761" y="11493"/>
                </a:cubicBezTo>
                <a:lnTo>
                  <a:pt x="6925" y="10973"/>
                </a:lnTo>
                <a:lnTo>
                  <a:pt x="6647" y="11128"/>
                </a:lnTo>
                <a:cubicBezTo>
                  <a:pt x="6297" y="11323"/>
                  <a:pt x="6239" y="11331"/>
                  <a:pt x="6211" y="11206"/>
                </a:cubicBezTo>
                <a:cubicBezTo>
                  <a:pt x="6199" y="11151"/>
                  <a:pt x="6403" y="10904"/>
                  <a:pt x="6664" y="10655"/>
                </a:cubicBezTo>
                <a:lnTo>
                  <a:pt x="7136" y="10201"/>
                </a:lnTo>
                <a:lnTo>
                  <a:pt x="7360" y="9347"/>
                </a:lnTo>
                <a:cubicBezTo>
                  <a:pt x="8272" y="5861"/>
                  <a:pt x="8617" y="3040"/>
                  <a:pt x="8324" y="1450"/>
                </a:cubicBezTo>
                <a:cubicBezTo>
                  <a:pt x="8159" y="556"/>
                  <a:pt x="7844" y="0"/>
                  <a:pt x="7500" y="0"/>
                </a:cubicBezTo>
                <a:close/>
                <a:moveTo>
                  <a:pt x="14448" y="10752"/>
                </a:moveTo>
                <a:cubicBezTo>
                  <a:pt x="14058" y="10752"/>
                  <a:pt x="13855" y="10791"/>
                  <a:pt x="13873" y="10856"/>
                </a:cubicBezTo>
                <a:cubicBezTo>
                  <a:pt x="13888" y="10912"/>
                  <a:pt x="13947" y="10957"/>
                  <a:pt x="14002" y="10957"/>
                </a:cubicBezTo>
                <a:cubicBezTo>
                  <a:pt x="14058" y="10957"/>
                  <a:pt x="14137" y="11038"/>
                  <a:pt x="14177" y="11140"/>
                </a:cubicBezTo>
                <a:cubicBezTo>
                  <a:pt x="14244" y="11307"/>
                  <a:pt x="14252" y="11680"/>
                  <a:pt x="14241" y="14884"/>
                </a:cubicBezTo>
                <a:lnTo>
                  <a:pt x="14230" y="18442"/>
                </a:lnTo>
                <a:lnTo>
                  <a:pt x="14087" y="18647"/>
                </a:lnTo>
                <a:cubicBezTo>
                  <a:pt x="14008" y="18758"/>
                  <a:pt x="13942" y="18882"/>
                  <a:pt x="13941" y="18924"/>
                </a:cubicBezTo>
                <a:cubicBezTo>
                  <a:pt x="13940" y="18965"/>
                  <a:pt x="14450" y="19000"/>
                  <a:pt x="15072" y="19000"/>
                </a:cubicBezTo>
                <a:lnTo>
                  <a:pt x="16204" y="19000"/>
                </a:lnTo>
                <a:lnTo>
                  <a:pt x="16232" y="18766"/>
                </a:lnTo>
                <a:cubicBezTo>
                  <a:pt x="16246" y="18637"/>
                  <a:pt x="16251" y="18352"/>
                  <a:pt x="16243" y="18136"/>
                </a:cubicBezTo>
                <a:lnTo>
                  <a:pt x="16229" y="17742"/>
                </a:lnTo>
                <a:lnTo>
                  <a:pt x="16149" y="18076"/>
                </a:lnTo>
                <a:cubicBezTo>
                  <a:pt x="16034" y="18552"/>
                  <a:pt x="15845" y="18697"/>
                  <a:pt x="15340" y="18697"/>
                </a:cubicBezTo>
                <a:cubicBezTo>
                  <a:pt x="14946" y="18697"/>
                  <a:pt x="14906" y="18680"/>
                  <a:pt x="14804" y="18448"/>
                </a:cubicBezTo>
                <a:lnTo>
                  <a:pt x="14693" y="18196"/>
                </a:lnTo>
                <a:lnTo>
                  <a:pt x="14705" y="14786"/>
                </a:lnTo>
                <a:cubicBezTo>
                  <a:pt x="14717" y="11598"/>
                  <a:pt x="14725" y="11363"/>
                  <a:pt x="14804" y="11165"/>
                </a:cubicBezTo>
                <a:cubicBezTo>
                  <a:pt x="14818" y="11129"/>
                  <a:pt x="14837" y="11104"/>
                  <a:pt x="14855" y="11074"/>
                </a:cubicBezTo>
                <a:lnTo>
                  <a:pt x="14855" y="11008"/>
                </a:lnTo>
                <a:lnTo>
                  <a:pt x="14905" y="11001"/>
                </a:lnTo>
                <a:cubicBezTo>
                  <a:pt x="14928" y="10977"/>
                  <a:pt x="14951" y="10957"/>
                  <a:pt x="14969" y="10957"/>
                </a:cubicBezTo>
                <a:cubicBezTo>
                  <a:pt x="15014" y="10957"/>
                  <a:pt x="15051" y="10912"/>
                  <a:pt x="15051" y="10856"/>
                </a:cubicBezTo>
                <a:cubicBezTo>
                  <a:pt x="15051" y="10794"/>
                  <a:pt x="14820" y="10752"/>
                  <a:pt x="14448" y="10752"/>
                </a:cubicBezTo>
                <a:close/>
                <a:moveTo>
                  <a:pt x="11782" y="10756"/>
                </a:moveTo>
                <a:cubicBezTo>
                  <a:pt x="11460" y="10721"/>
                  <a:pt x="11137" y="10844"/>
                  <a:pt x="10869" y="11128"/>
                </a:cubicBezTo>
                <a:cubicBezTo>
                  <a:pt x="10457" y="11564"/>
                  <a:pt x="10198" y="12136"/>
                  <a:pt x="9998" y="13053"/>
                </a:cubicBezTo>
                <a:cubicBezTo>
                  <a:pt x="9837" y="13792"/>
                  <a:pt x="9833" y="13842"/>
                  <a:pt x="9833" y="14925"/>
                </a:cubicBezTo>
                <a:cubicBezTo>
                  <a:pt x="9833" y="15977"/>
                  <a:pt x="9840" y="16075"/>
                  <a:pt x="9976" y="16699"/>
                </a:cubicBezTo>
                <a:cubicBezTo>
                  <a:pt x="10056" y="17067"/>
                  <a:pt x="10223" y="17591"/>
                  <a:pt x="10351" y="17881"/>
                </a:cubicBezTo>
                <a:cubicBezTo>
                  <a:pt x="10572" y="18382"/>
                  <a:pt x="11047" y="19000"/>
                  <a:pt x="11211" y="19000"/>
                </a:cubicBezTo>
                <a:cubicBezTo>
                  <a:pt x="11253" y="19000"/>
                  <a:pt x="11470" y="19435"/>
                  <a:pt x="11693" y="19964"/>
                </a:cubicBezTo>
                <a:cubicBezTo>
                  <a:pt x="12123" y="20987"/>
                  <a:pt x="12281" y="21256"/>
                  <a:pt x="12578" y="21473"/>
                </a:cubicBezTo>
                <a:cubicBezTo>
                  <a:pt x="12693" y="21558"/>
                  <a:pt x="12938" y="21594"/>
                  <a:pt x="13163" y="21587"/>
                </a:cubicBezTo>
                <a:cubicBezTo>
                  <a:pt x="13389" y="21580"/>
                  <a:pt x="13597" y="21528"/>
                  <a:pt x="13637" y="21439"/>
                </a:cubicBezTo>
                <a:cubicBezTo>
                  <a:pt x="13680" y="21341"/>
                  <a:pt x="13635" y="21320"/>
                  <a:pt x="13427" y="21325"/>
                </a:cubicBezTo>
                <a:cubicBezTo>
                  <a:pt x="13282" y="21329"/>
                  <a:pt x="13109" y="21280"/>
                  <a:pt x="13042" y="21221"/>
                </a:cubicBezTo>
                <a:cubicBezTo>
                  <a:pt x="12895" y="21093"/>
                  <a:pt x="12595" y="20480"/>
                  <a:pt x="12292" y="19687"/>
                </a:cubicBezTo>
                <a:lnTo>
                  <a:pt x="12068" y="19104"/>
                </a:lnTo>
                <a:lnTo>
                  <a:pt x="12195" y="18984"/>
                </a:lnTo>
                <a:cubicBezTo>
                  <a:pt x="12662" y="18545"/>
                  <a:pt x="12808" y="18355"/>
                  <a:pt x="13006" y="17934"/>
                </a:cubicBezTo>
                <a:cubicBezTo>
                  <a:pt x="13564" y="16754"/>
                  <a:pt x="13735" y="14659"/>
                  <a:pt x="13402" y="13094"/>
                </a:cubicBezTo>
                <a:cubicBezTo>
                  <a:pt x="13278" y="12509"/>
                  <a:pt x="12927" y="11649"/>
                  <a:pt x="12678" y="11320"/>
                </a:cubicBezTo>
                <a:cubicBezTo>
                  <a:pt x="12422" y="10980"/>
                  <a:pt x="12104" y="10790"/>
                  <a:pt x="11782" y="10756"/>
                </a:cubicBezTo>
                <a:close/>
                <a:moveTo>
                  <a:pt x="8188" y="10759"/>
                </a:moveTo>
                <a:cubicBezTo>
                  <a:pt x="7570" y="10761"/>
                  <a:pt x="7185" y="11692"/>
                  <a:pt x="7246" y="13037"/>
                </a:cubicBezTo>
                <a:cubicBezTo>
                  <a:pt x="7288" y="13951"/>
                  <a:pt x="7433" y="14367"/>
                  <a:pt x="8002" y="15218"/>
                </a:cubicBezTo>
                <a:cubicBezTo>
                  <a:pt x="8574" y="16075"/>
                  <a:pt x="8829" y="16624"/>
                  <a:pt x="8874" y="17103"/>
                </a:cubicBezTo>
                <a:cubicBezTo>
                  <a:pt x="8974" y="18174"/>
                  <a:pt x="8592" y="19006"/>
                  <a:pt x="8064" y="18864"/>
                </a:cubicBezTo>
                <a:cubicBezTo>
                  <a:pt x="7685" y="18763"/>
                  <a:pt x="7439" y="18243"/>
                  <a:pt x="7303" y="17263"/>
                </a:cubicBezTo>
                <a:cubicBezTo>
                  <a:pt x="7245" y="16850"/>
                  <a:pt x="7241" y="16867"/>
                  <a:pt x="7236" y="17919"/>
                </a:cubicBezTo>
                <a:cubicBezTo>
                  <a:pt x="7234" y="18513"/>
                  <a:pt x="7247" y="19000"/>
                  <a:pt x="7264" y="19000"/>
                </a:cubicBezTo>
                <a:cubicBezTo>
                  <a:pt x="7280" y="19000"/>
                  <a:pt x="7329" y="18929"/>
                  <a:pt x="7371" y="18842"/>
                </a:cubicBezTo>
                <a:cubicBezTo>
                  <a:pt x="7441" y="18699"/>
                  <a:pt x="7472" y="18702"/>
                  <a:pt x="7728" y="18886"/>
                </a:cubicBezTo>
                <a:cubicBezTo>
                  <a:pt x="8488" y="19431"/>
                  <a:pt x="9086" y="18829"/>
                  <a:pt x="9230" y="17370"/>
                </a:cubicBezTo>
                <a:cubicBezTo>
                  <a:pt x="9297" y="16692"/>
                  <a:pt x="9222" y="16011"/>
                  <a:pt x="9024" y="15489"/>
                </a:cubicBezTo>
                <a:cubicBezTo>
                  <a:pt x="8938" y="15260"/>
                  <a:pt x="8643" y="14739"/>
                  <a:pt x="8367" y="14329"/>
                </a:cubicBezTo>
                <a:cubicBezTo>
                  <a:pt x="7733" y="13385"/>
                  <a:pt x="7543" y="12910"/>
                  <a:pt x="7543" y="12259"/>
                </a:cubicBezTo>
                <a:cubicBezTo>
                  <a:pt x="7543" y="11704"/>
                  <a:pt x="7662" y="11304"/>
                  <a:pt x="7885" y="11093"/>
                </a:cubicBezTo>
                <a:cubicBezTo>
                  <a:pt x="8323" y="10679"/>
                  <a:pt x="8857" y="11279"/>
                  <a:pt x="8952" y="12290"/>
                </a:cubicBezTo>
                <a:cubicBezTo>
                  <a:pt x="9009" y="12895"/>
                  <a:pt x="9056" y="12630"/>
                  <a:pt x="9056" y="11701"/>
                </a:cubicBezTo>
                <a:cubicBezTo>
                  <a:pt x="9056" y="10761"/>
                  <a:pt x="9052" y="10727"/>
                  <a:pt x="8974" y="10888"/>
                </a:cubicBezTo>
                <a:cubicBezTo>
                  <a:pt x="8900" y="11040"/>
                  <a:pt x="8873" y="11043"/>
                  <a:pt x="8674" y="10907"/>
                </a:cubicBezTo>
                <a:cubicBezTo>
                  <a:pt x="8554" y="10824"/>
                  <a:pt x="8335" y="10758"/>
                  <a:pt x="8188" y="10759"/>
                </a:cubicBezTo>
                <a:close/>
                <a:moveTo>
                  <a:pt x="11714" y="10970"/>
                </a:moveTo>
                <a:cubicBezTo>
                  <a:pt x="11898" y="10970"/>
                  <a:pt x="12077" y="11056"/>
                  <a:pt x="12232" y="11238"/>
                </a:cubicBezTo>
                <a:cubicBezTo>
                  <a:pt x="12350" y="11375"/>
                  <a:pt x="12488" y="11638"/>
                  <a:pt x="12610" y="11934"/>
                </a:cubicBezTo>
                <a:cubicBezTo>
                  <a:pt x="12629" y="11949"/>
                  <a:pt x="12641" y="11988"/>
                  <a:pt x="12649" y="12035"/>
                </a:cubicBezTo>
                <a:cubicBezTo>
                  <a:pt x="12738" y="12263"/>
                  <a:pt x="12819" y="12503"/>
                  <a:pt x="12866" y="12716"/>
                </a:cubicBezTo>
                <a:cubicBezTo>
                  <a:pt x="13122" y="13890"/>
                  <a:pt x="13116" y="16010"/>
                  <a:pt x="12853" y="17188"/>
                </a:cubicBezTo>
                <a:cubicBezTo>
                  <a:pt x="12746" y="17669"/>
                  <a:pt x="12445" y="18371"/>
                  <a:pt x="12239" y="18612"/>
                </a:cubicBezTo>
                <a:cubicBezTo>
                  <a:pt x="12012" y="18877"/>
                  <a:pt x="11540" y="18944"/>
                  <a:pt x="11272" y="18748"/>
                </a:cubicBezTo>
                <a:cubicBezTo>
                  <a:pt x="10215" y="17978"/>
                  <a:pt x="9955" y="13473"/>
                  <a:pt x="10864" y="11663"/>
                </a:cubicBezTo>
                <a:cubicBezTo>
                  <a:pt x="11091" y="11209"/>
                  <a:pt x="11407" y="10969"/>
                  <a:pt x="11714" y="10970"/>
                </a:cubicBezTo>
                <a:close/>
                <a:moveTo>
                  <a:pt x="17042" y="12278"/>
                </a:moveTo>
                <a:cubicBezTo>
                  <a:pt x="16924" y="12315"/>
                  <a:pt x="16879" y="12692"/>
                  <a:pt x="16964" y="12924"/>
                </a:cubicBezTo>
                <a:cubicBezTo>
                  <a:pt x="16993" y="13004"/>
                  <a:pt x="17074" y="13069"/>
                  <a:pt x="17145" y="13069"/>
                </a:cubicBezTo>
                <a:cubicBezTo>
                  <a:pt x="17256" y="13069"/>
                  <a:pt x="17271" y="13027"/>
                  <a:pt x="17271" y="12776"/>
                </a:cubicBezTo>
                <a:cubicBezTo>
                  <a:pt x="17271" y="12429"/>
                  <a:pt x="17182" y="12233"/>
                  <a:pt x="17042" y="12278"/>
                </a:cubicBezTo>
                <a:close/>
                <a:moveTo>
                  <a:pt x="18639" y="13173"/>
                </a:moveTo>
                <a:cubicBezTo>
                  <a:pt x="18620" y="13169"/>
                  <a:pt x="18600" y="13237"/>
                  <a:pt x="18580" y="13381"/>
                </a:cubicBezTo>
                <a:cubicBezTo>
                  <a:pt x="18531" y="13734"/>
                  <a:pt x="18253" y="14358"/>
                  <a:pt x="18113" y="14427"/>
                </a:cubicBezTo>
                <a:cubicBezTo>
                  <a:pt x="17923" y="14521"/>
                  <a:pt x="17952" y="14659"/>
                  <a:pt x="18170" y="14695"/>
                </a:cubicBezTo>
                <a:lnTo>
                  <a:pt x="18359" y="14726"/>
                </a:lnTo>
                <a:lnTo>
                  <a:pt x="18366" y="16233"/>
                </a:lnTo>
                <a:cubicBezTo>
                  <a:pt x="18374" y="18664"/>
                  <a:pt x="18373" y="18678"/>
                  <a:pt x="18470" y="18899"/>
                </a:cubicBezTo>
                <a:cubicBezTo>
                  <a:pt x="18591" y="19172"/>
                  <a:pt x="18805" y="19154"/>
                  <a:pt x="19076" y="18848"/>
                </a:cubicBezTo>
                <a:cubicBezTo>
                  <a:pt x="19302" y="18593"/>
                  <a:pt x="19574" y="18045"/>
                  <a:pt x="19526" y="17938"/>
                </a:cubicBezTo>
                <a:cubicBezTo>
                  <a:pt x="19512" y="17905"/>
                  <a:pt x="19396" y="18039"/>
                  <a:pt x="19269" y="18237"/>
                </a:cubicBezTo>
                <a:cubicBezTo>
                  <a:pt x="19011" y="18639"/>
                  <a:pt x="18877" y="18686"/>
                  <a:pt x="18766" y="18410"/>
                </a:cubicBezTo>
                <a:cubicBezTo>
                  <a:pt x="18701" y="18248"/>
                  <a:pt x="18694" y="17997"/>
                  <a:pt x="18705" y="16475"/>
                </a:cubicBezTo>
                <a:lnTo>
                  <a:pt x="18716" y="14726"/>
                </a:lnTo>
                <a:lnTo>
                  <a:pt x="18994" y="14698"/>
                </a:lnTo>
                <a:cubicBezTo>
                  <a:pt x="19196" y="14676"/>
                  <a:pt x="19272" y="14628"/>
                  <a:pt x="19272" y="14525"/>
                </a:cubicBezTo>
                <a:cubicBezTo>
                  <a:pt x="19272" y="14422"/>
                  <a:pt x="19196" y="14377"/>
                  <a:pt x="18994" y="14355"/>
                </a:cubicBezTo>
                <a:lnTo>
                  <a:pt x="18987" y="14355"/>
                </a:lnTo>
                <a:cubicBezTo>
                  <a:pt x="18983" y="14355"/>
                  <a:pt x="18980" y="14356"/>
                  <a:pt x="18976" y="14355"/>
                </a:cubicBezTo>
                <a:lnTo>
                  <a:pt x="18716" y="14323"/>
                </a:lnTo>
                <a:lnTo>
                  <a:pt x="18694" y="13620"/>
                </a:lnTo>
                <a:cubicBezTo>
                  <a:pt x="18690" y="13496"/>
                  <a:pt x="18683" y="13426"/>
                  <a:pt x="18677" y="13337"/>
                </a:cubicBezTo>
                <a:cubicBezTo>
                  <a:pt x="18666" y="13243"/>
                  <a:pt x="18653" y="13175"/>
                  <a:pt x="18639" y="13173"/>
                </a:cubicBezTo>
                <a:close/>
                <a:moveTo>
                  <a:pt x="20811" y="14213"/>
                </a:moveTo>
                <a:cubicBezTo>
                  <a:pt x="20269" y="14228"/>
                  <a:pt x="19850" y="15337"/>
                  <a:pt x="19851" y="16888"/>
                </a:cubicBezTo>
                <a:cubicBezTo>
                  <a:pt x="19852" y="18007"/>
                  <a:pt x="20039" y="18775"/>
                  <a:pt x="20365" y="18996"/>
                </a:cubicBezTo>
                <a:cubicBezTo>
                  <a:pt x="20676" y="19207"/>
                  <a:pt x="21100" y="19057"/>
                  <a:pt x="21289" y="18669"/>
                </a:cubicBezTo>
                <a:cubicBezTo>
                  <a:pt x="21406" y="18430"/>
                  <a:pt x="21593" y="17688"/>
                  <a:pt x="21557" y="17607"/>
                </a:cubicBezTo>
                <a:cubicBezTo>
                  <a:pt x="21545" y="17580"/>
                  <a:pt x="21471" y="17695"/>
                  <a:pt x="21392" y="17865"/>
                </a:cubicBezTo>
                <a:cubicBezTo>
                  <a:pt x="21051" y="18598"/>
                  <a:pt x="20662" y="18717"/>
                  <a:pt x="20400" y="18171"/>
                </a:cubicBezTo>
                <a:cubicBezTo>
                  <a:pt x="20229" y="17814"/>
                  <a:pt x="20096" y="17112"/>
                  <a:pt x="20164" y="16926"/>
                </a:cubicBezTo>
                <a:cubicBezTo>
                  <a:pt x="20186" y="16864"/>
                  <a:pt x="20279" y="16786"/>
                  <a:pt x="20371" y="16753"/>
                </a:cubicBezTo>
                <a:cubicBezTo>
                  <a:pt x="20804" y="16592"/>
                  <a:pt x="21403" y="15605"/>
                  <a:pt x="21403" y="15051"/>
                </a:cubicBezTo>
                <a:cubicBezTo>
                  <a:pt x="21403" y="14663"/>
                  <a:pt x="21285" y="14403"/>
                  <a:pt x="21050" y="14276"/>
                </a:cubicBezTo>
                <a:cubicBezTo>
                  <a:pt x="20969" y="14231"/>
                  <a:pt x="20889" y="14210"/>
                  <a:pt x="20811" y="14213"/>
                </a:cubicBezTo>
                <a:close/>
                <a:moveTo>
                  <a:pt x="17306" y="14273"/>
                </a:moveTo>
                <a:cubicBezTo>
                  <a:pt x="17251" y="14273"/>
                  <a:pt x="17135" y="14314"/>
                  <a:pt x="17049" y="14364"/>
                </a:cubicBezTo>
                <a:cubicBezTo>
                  <a:pt x="16964" y="14414"/>
                  <a:pt x="16839" y="14481"/>
                  <a:pt x="16771" y="14515"/>
                </a:cubicBezTo>
                <a:cubicBezTo>
                  <a:pt x="16589" y="14608"/>
                  <a:pt x="16624" y="14777"/>
                  <a:pt x="16826" y="14777"/>
                </a:cubicBezTo>
                <a:cubicBezTo>
                  <a:pt x="16954" y="14777"/>
                  <a:pt x="17015" y="14830"/>
                  <a:pt x="17049" y="14972"/>
                </a:cubicBezTo>
                <a:cubicBezTo>
                  <a:pt x="17106" y="15215"/>
                  <a:pt x="17109" y="18288"/>
                  <a:pt x="17052" y="18492"/>
                </a:cubicBezTo>
                <a:cubicBezTo>
                  <a:pt x="17029" y="18574"/>
                  <a:pt x="16945" y="18697"/>
                  <a:pt x="16864" y="18763"/>
                </a:cubicBezTo>
                <a:cubicBezTo>
                  <a:pt x="16737" y="18868"/>
                  <a:pt x="16789" y="18882"/>
                  <a:pt x="17271" y="18880"/>
                </a:cubicBezTo>
                <a:cubicBezTo>
                  <a:pt x="17730" y="18878"/>
                  <a:pt x="17799" y="18860"/>
                  <a:pt x="17659" y="18776"/>
                </a:cubicBezTo>
                <a:cubicBezTo>
                  <a:pt x="17543" y="18706"/>
                  <a:pt x="17475" y="18597"/>
                  <a:pt x="17447" y="18429"/>
                </a:cubicBezTo>
                <a:cubicBezTo>
                  <a:pt x="17424" y="18294"/>
                  <a:pt x="17406" y="17304"/>
                  <a:pt x="17406" y="16230"/>
                </a:cubicBezTo>
                <a:lnTo>
                  <a:pt x="17406" y="14273"/>
                </a:lnTo>
                <a:lnTo>
                  <a:pt x="17306" y="14273"/>
                </a:lnTo>
                <a:close/>
                <a:moveTo>
                  <a:pt x="20643" y="14588"/>
                </a:moveTo>
                <a:cubicBezTo>
                  <a:pt x="20720" y="14600"/>
                  <a:pt x="20795" y="14693"/>
                  <a:pt x="20873" y="14868"/>
                </a:cubicBezTo>
                <a:cubicBezTo>
                  <a:pt x="20945" y="15033"/>
                  <a:pt x="21004" y="15273"/>
                  <a:pt x="21004" y="15410"/>
                </a:cubicBezTo>
                <a:cubicBezTo>
                  <a:pt x="21004" y="15737"/>
                  <a:pt x="20855" y="16147"/>
                  <a:pt x="20653" y="16381"/>
                </a:cubicBezTo>
                <a:cubicBezTo>
                  <a:pt x="20460" y="16603"/>
                  <a:pt x="20194" y="16732"/>
                  <a:pt x="20147" y="16627"/>
                </a:cubicBezTo>
                <a:cubicBezTo>
                  <a:pt x="20027" y="16355"/>
                  <a:pt x="20194" y="15167"/>
                  <a:pt x="20404" y="14793"/>
                </a:cubicBezTo>
                <a:cubicBezTo>
                  <a:pt x="20488" y="14643"/>
                  <a:pt x="20566" y="14575"/>
                  <a:pt x="20643" y="14588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Ключевые понятия  Система управления задачами:…"/>
          <p:cNvSpPr txBox="1"/>
          <p:nvPr>
            <p:ph type="body" idx="1"/>
          </p:nvPr>
        </p:nvSpPr>
        <p:spPr>
          <a:xfrm>
            <a:off x="1484439" y="2752182"/>
            <a:ext cx="21971002" cy="9469719"/>
          </a:xfrm>
          <a:prstGeom prst="rect">
            <a:avLst/>
          </a:prstGeom>
        </p:spPr>
        <p:txBody>
          <a:bodyPr/>
          <a:lstStyle/>
          <a:p>
            <a:pPr defTabSz="412210">
              <a:spcBef>
                <a:spcPts val="13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Ключевые понятия </a:t>
            </a:r>
            <a:br/>
            <a:r>
              <a:t>Система управления задачами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Программа для создания, хранения и контроля задач.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Функции: формирование списка, классификация, отслеживание прогресса.</a:t>
            </a:r>
          </a:p>
          <a:p>
            <a:pPr defTabSz="412210">
              <a:spcBef>
                <a:spcPts val="13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База данных: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Организованное хранилище данных.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Обеспечивают целостность, структуру и эффективный доступ.</a:t>
            </a:r>
          </a:p>
          <a:p>
            <a:pPr defTabSz="412210">
              <a:spcBef>
                <a:spcPts val="13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SQLite: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Встраиваемая реляционная СУБД.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Преимущества: не требует сервера, переносима, компактна, хранит все в одном файле.</a:t>
            </a:r>
          </a:p>
          <a:p>
            <a:pPr lvl="4" marL="916024" indent="-286258" defTabSz="412210">
              <a:buClr>
                <a:srgbClr val="0F1115"/>
              </a:buClr>
              <a:buFont typeface="Helvetica Neue"/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Идеально подходит для локальных приложений.</a:t>
            </a:r>
          </a:p>
        </p:txBody>
      </p:sp>
      <p:sp>
        <p:nvSpPr>
          <p:cNvPr id="184" name="Теоретическая част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Теоретическая часть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Архитектра системы…"/>
          <p:cNvSpPr txBox="1"/>
          <p:nvPr>
            <p:ph type="body" idx="1"/>
          </p:nvPr>
        </p:nvSpPr>
        <p:spPr>
          <a:xfrm>
            <a:off x="1206500" y="2324100"/>
            <a:ext cx="21971000" cy="10559464"/>
          </a:xfrm>
          <a:prstGeom prst="rect">
            <a:avLst/>
          </a:prstGeom>
        </p:spPr>
        <p:txBody>
          <a:bodyPr/>
          <a:lstStyle/>
          <a:p>
            <a:pPr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Архитектура системы </a:t>
            </a:r>
          </a:p>
          <a:p>
            <a:pPr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Модульный подход:</a:t>
            </a:r>
            <a:r>
              <a:rPr b="0"/>
              <a:t> 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models.py - в данном файле находится шаблон задачи;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database.py - в данном файле реализовано взаимодействие с базой данных; 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main_gui.py - в данном файле реализован графический интерфейс на tkinter, который обращается к функциям из database.py </a:t>
            </a:r>
          </a:p>
          <a:p>
            <a:pPr defTabSz="457200">
              <a:defRPr b="1"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Основной объект:</a:t>
            </a:r>
            <a:r>
              <a:rPr>
                <a:solidFill>
                  <a:srgbClr val="0F1115"/>
                </a:solidFill>
              </a:rPr>
              <a:t> </a:t>
            </a:r>
            <a:r>
              <a:rPr b="0">
                <a:solidFill>
                  <a:srgbClr val="0F1115"/>
                </a:solidFill>
              </a:rPr>
              <a:t>задача (Task). Это глобальный класс с атрибутами задачи </a:t>
            </a:r>
            <a:endParaRPr>
              <a:solidFill>
                <a:srgbClr val="0F1115"/>
              </a:solidFill>
            </a:endParaRPr>
          </a:p>
          <a:p>
            <a:pPr defTabSz="457200">
              <a:spcBef>
                <a:spcPts val="800"/>
              </a:spcBef>
              <a:defRPr b="1"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Основные операции:</a:t>
            </a:r>
          </a:p>
          <a:p>
            <a:pPr lvl="2" marL="1213183" indent="-451183" defTabSz="457200"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создание (Сreate);</a:t>
            </a:r>
          </a:p>
          <a:p>
            <a:pPr lvl="2" marL="1213183" indent="-451183" defTabSz="457200"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чтение (Read);</a:t>
            </a:r>
          </a:p>
          <a:p>
            <a:pPr lvl="2" marL="1213183" indent="-451183" defTabSz="457200"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обновление (Update);</a:t>
            </a:r>
          </a:p>
          <a:p>
            <a:pPr lvl="2" marL="1213183" indent="-451183" defTabSz="457200">
              <a:defRPr sz="45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удаление (Delete)</a:t>
            </a:r>
          </a:p>
        </p:txBody>
      </p:sp>
      <p:sp>
        <p:nvSpPr>
          <p:cNvPr id="187" name="Практическая част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Практическая часть </a:t>
            </a:r>
          </a:p>
        </p:txBody>
      </p:sp>
      <p:pic>
        <p:nvPicPr>
          <p:cNvPr id="188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rcRect l="2874" t="21921" r="3864" b="24440"/>
          <a:stretch>
            <a:fillRect/>
          </a:stretch>
        </p:blipFill>
        <p:spPr>
          <a:xfrm>
            <a:off x="16100471" y="9954837"/>
            <a:ext cx="7125170" cy="24648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8" h="21413" fill="norm" stroke="1" extrusionOk="0">
                <a:moveTo>
                  <a:pt x="3865" y="2"/>
                </a:moveTo>
                <a:cubicBezTo>
                  <a:pt x="3527" y="-12"/>
                  <a:pt x="3183" y="41"/>
                  <a:pt x="2961" y="171"/>
                </a:cubicBezTo>
                <a:cubicBezTo>
                  <a:pt x="2561" y="406"/>
                  <a:pt x="1814" y="1446"/>
                  <a:pt x="1414" y="2322"/>
                </a:cubicBezTo>
                <a:cubicBezTo>
                  <a:pt x="1239" y="2705"/>
                  <a:pt x="1082" y="3007"/>
                  <a:pt x="1067" y="2991"/>
                </a:cubicBezTo>
                <a:cubicBezTo>
                  <a:pt x="1051" y="2975"/>
                  <a:pt x="1038" y="3021"/>
                  <a:pt x="1038" y="3091"/>
                </a:cubicBezTo>
                <a:cubicBezTo>
                  <a:pt x="1038" y="3162"/>
                  <a:pt x="943" y="3588"/>
                  <a:pt x="828" y="4039"/>
                </a:cubicBezTo>
                <a:cubicBezTo>
                  <a:pt x="714" y="4491"/>
                  <a:pt x="588" y="5029"/>
                  <a:pt x="551" y="5236"/>
                </a:cubicBezTo>
                <a:cubicBezTo>
                  <a:pt x="513" y="5442"/>
                  <a:pt x="461" y="5575"/>
                  <a:pt x="435" y="5529"/>
                </a:cubicBezTo>
                <a:cubicBezTo>
                  <a:pt x="409" y="5482"/>
                  <a:pt x="387" y="5610"/>
                  <a:pt x="386" y="5812"/>
                </a:cubicBezTo>
                <a:cubicBezTo>
                  <a:pt x="385" y="6015"/>
                  <a:pt x="339" y="6476"/>
                  <a:pt x="282" y="6839"/>
                </a:cubicBezTo>
                <a:cubicBezTo>
                  <a:pt x="158" y="7632"/>
                  <a:pt x="171" y="7485"/>
                  <a:pt x="119" y="8490"/>
                </a:cubicBezTo>
                <a:cubicBezTo>
                  <a:pt x="95" y="8944"/>
                  <a:pt x="60" y="9423"/>
                  <a:pt x="42" y="9559"/>
                </a:cubicBezTo>
                <a:cubicBezTo>
                  <a:pt x="16" y="9747"/>
                  <a:pt x="1" y="10214"/>
                  <a:pt x="0" y="10669"/>
                </a:cubicBezTo>
                <a:cubicBezTo>
                  <a:pt x="-2" y="11125"/>
                  <a:pt x="10" y="11572"/>
                  <a:pt x="34" y="11718"/>
                </a:cubicBezTo>
                <a:cubicBezTo>
                  <a:pt x="58" y="11860"/>
                  <a:pt x="89" y="12338"/>
                  <a:pt x="103" y="12786"/>
                </a:cubicBezTo>
                <a:cubicBezTo>
                  <a:pt x="117" y="13234"/>
                  <a:pt x="169" y="13859"/>
                  <a:pt x="217" y="14172"/>
                </a:cubicBezTo>
                <a:cubicBezTo>
                  <a:pt x="265" y="14485"/>
                  <a:pt x="290" y="14837"/>
                  <a:pt x="274" y="14955"/>
                </a:cubicBezTo>
                <a:cubicBezTo>
                  <a:pt x="258" y="15073"/>
                  <a:pt x="271" y="15169"/>
                  <a:pt x="303" y="15169"/>
                </a:cubicBezTo>
                <a:cubicBezTo>
                  <a:pt x="335" y="15169"/>
                  <a:pt x="418" y="15486"/>
                  <a:pt x="488" y="15872"/>
                </a:cubicBezTo>
                <a:cubicBezTo>
                  <a:pt x="558" y="16257"/>
                  <a:pt x="706" y="16889"/>
                  <a:pt x="816" y="17275"/>
                </a:cubicBezTo>
                <a:cubicBezTo>
                  <a:pt x="926" y="17661"/>
                  <a:pt x="1001" y="17972"/>
                  <a:pt x="982" y="17972"/>
                </a:cubicBezTo>
                <a:cubicBezTo>
                  <a:pt x="963" y="17972"/>
                  <a:pt x="1084" y="18300"/>
                  <a:pt x="1252" y="18696"/>
                </a:cubicBezTo>
                <a:cubicBezTo>
                  <a:pt x="1420" y="19093"/>
                  <a:pt x="1549" y="19509"/>
                  <a:pt x="1539" y="19623"/>
                </a:cubicBezTo>
                <a:cubicBezTo>
                  <a:pt x="1530" y="19743"/>
                  <a:pt x="1558" y="19794"/>
                  <a:pt x="1607" y="19741"/>
                </a:cubicBezTo>
                <a:cubicBezTo>
                  <a:pt x="1653" y="19691"/>
                  <a:pt x="1738" y="19748"/>
                  <a:pt x="1797" y="19875"/>
                </a:cubicBezTo>
                <a:cubicBezTo>
                  <a:pt x="1855" y="20002"/>
                  <a:pt x="1879" y="20111"/>
                  <a:pt x="1848" y="20113"/>
                </a:cubicBezTo>
                <a:cubicBezTo>
                  <a:pt x="1817" y="20116"/>
                  <a:pt x="1849" y="20237"/>
                  <a:pt x="1920" y="20378"/>
                </a:cubicBezTo>
                <a:cubicBezTo>
                  <a:pt x="1990" y="20519"/>
                  <a:pt x="2073" y="20588"/>
                  <a:pt x="2102" y="20537"/>
                </a:cubicBezTo>
                <a:cubicBezTo>
                  <a:pt x="2131" y="20485"/>
                  <a:pt x="2228" y="20531"/>
                  <a:pt x="2318" y="20634"/>
                </a:cubicBezTo>
                <a:cubicBezTo>
                  <a:pt x="2408" y="20737"/>
                  <a:pt x="2650" y="20960"/>
                  <a:pt x="2857" y="21130"/>
                </a:cubicBezTo>
                <a:cubicBezTo>
                  <a:pt x="3415" y="21588"/>
                  <a:pt x="4461" y="21477"/>
                  <a:pt x="5042" y="20896"/>
                </a:cubicBezTo>
                <a:cubicBezTo>
                  <a:pt x="5276" y="20663"/>
                  <a:pt x="5567" y="20283"/>
                  <a:pt x="5690" y="20051"/>
                </a:cubicBezTo>
                <a:cubicBezTo>
                  <a:pt x="5826" y="19794"/>
                  <a:pt x="5952" y="19671"/>
                  <a:pt x="6012" y="19737"/>
                </a:cubicBezTo>
                <a:cubicBezTo>
                  <a:pt x="6072" y="19803"/>
                  <a:pt x="6096" y="19778"/>
                  <a:pt x="6073" y="19675"/>
                </a:cubicBezTo>
                <a:cubicBezTo>
                  <a:pt x="6053" y="19582"/>
                  <a:pt x="6101" y="19333"/>
                  <a:pt x="6179" y="19123"/>
                </a:cubicBezTo>
                <a:cubicBezTo>
                  <a:pt x="6258" y="18912"/>
                  <a:pt x="6322" y="18803"/>
                  <a:pt x="6322" y="18879"/>
                </a:cubicBezTo>
                <a:cubicBezTo>
                  <a:pt x="6322" y="18955"/>
                  <a:pt x="6416" y="18672"/>
                  <a:pt x="6531" y="18251"/>
                </a:cubicBezTo>
                <a:cubicBezTo>
                  <a:pt x="6646" y="17829"/>
                  <a:pt x="6760" y="17519"/>
                  <a:pt x="6784" y="17562"/>
                </a:cubicBezTo>
                <a:cubicBezTo>
                  <a:pt x="6841" y="17662"/>
                  <a:pt x="6985" y="17177"/>
                  <a:pt x="6938" y="17044"/>
                </a:cubicBezTo>
                <a:cubicBezTo>
                  <a:pt x="6880" y="16878"/>
                  <a:pt x="7017" y="16305"/>
                  <a:pt x="7086" y="16427"/>
                </a:cubicBezTo>
                <a:cubicBezTo>
                  <a:pt x="7124" y="16493"/>
                  <a:pt x="7133" y="16464"/>
                  <a:pt x="7109" y="16355"/>
                </a:cubicBezTo>
                <a:cubicBezTo>
                  <a:pt x="7087" y="16254"/>
                  <a:pt x="7132" y="15813"/>
                  <a:pt x="7210" y="15372"/>
                </a:cubicBezTo>
                <a:cubicBezTo>
                  <a:pt x="7288" y="14931"/>
                  <a:pt x="7395" y="14095"/>
                  <a:pt x="7447" y="13517"/>
                </a:cubicBezTo>
                <a:cubicBezTo>
                  <a:pt x="7575" y="12110"/>
                  <a:pt x="7579" y="9091"/>
                  <a:pt x="7454" y="7863"/>
                </a:cubicBezTo>
                <a:cubicBezTo>
                  <a:pt x="7404" y="7362"/>
                  <a:pt x="7379" y="6822"/>
                  <a:pt x="7400" y="6663"/>
                </a:cubicBezTo>
                <a:cubicBezTo>
                  <a:pt x="7426" y="6470"/>
                  <a:pt x="7416" y="6410"/>
                  <a:pt x="7373" y="6487"/>
                </a:cubicBezTo>
                <a:cubicBezTo>
                  <a:pt x="7332" y="6559"/>
                  <a:pt x="7250" y="6275"/>
                  <a:pt x="7154" y="5732"/>
                </a:cubicBezTo>
                <a:cubicBezTo>
                  <a:pt x="7069" y="5252"/>
                  <a:pt x="6950" y="4654"/>
                  <a:pt x="6889" y="4405"/>
                </a:cubicBezTo>
                <a:cubicBezTo>
                  <a:pt x="6827" y="4155"/>
                  <a:pt x="6793" y="3950"/>
                  <a:pt x="6813" y="3950"/>
                </a:cubicBezTo>
                <a:cubicBezTo>
                  <a:pt x="6834" y="3950"/>
                  <a:pt x="6771" y="3759"/>
                  <a:pt x="6674" y="3526"/>
                </a:cubicBezTo>
                <a:cubicBezTo>
                  <a:pt x="6577" y="3293"/>
                  <a:pt x="6504" y="3028"/>
                  <a:pt x="6511" y="2933"/>
                </a:cubicBezTo>
                <a:cubicBezTo>
                  <a:pt x="6519" y="2838"/>
                  <a:pt x="6479" y="2735"/>
                  <a:pt x="6425" y="2709"/>
                </a:cubicBezTo>
                <a:cubicBezTo>
                  <a:pt x="6370" y="2682"/>
                  <a:pt x="6212" y="2400"/>
                  <a:pt x="6075" y="2078"/>
                </a:cubicBezTo>
                <a:cubicBezTo>
                  <a:pt x="5772" y="1370"/>
                  <a:pt x="5204" y="592"/>
                  <a:pt x="4736" y="247"/>
                </a:cubicBezTo>
                <a:cubicBezTo>
                  <a:pt x="4535" y="99"/>
                  <a:pt x="4203" y="16"/>
                  <a:pt x="3865" y="2"/>
                </a:cubicBezTo>
                <a:close/>
                <a:moveTo>
                  <a:pt x="11740" y="5174"/>
                </a:moveTo>
                <a:lnTo>
                  <a:pt x="11513" y="5184"/>
                </a:lnTo>
                <a:cubicBezTo>
                  <a:pt x="11350" y="5189"/>
                  <a:pt x="11296" y="5249"/>
                  <a:pt x="11317" y="5408"/>
                </a:cubicBezTo>
                <a:cubicBezTo>
                  <a:pt x="11333" y="5529"/>
                  <a:pt x="11347" y="7769"/>
                  <a:pt x="11347" y="10387"/>
                </a:cubicBezTo>
                <a:lnTo>
                  <a:pt x="11347" y="15148"/>
                </a:lnTo>
                <a:lnTo>
                  <a:pt x="11506" y="15207"/>
                </a:lnTo>
                <a:cubicBezTo>
                  <a:pt x="11738" y="15292"/>
                  <a:pt x="11750" y="15239"/>
                  <a:pt x="11750" y="14248"/>
                </a:cubicBezTo>
                <a:cubicBezTo>
                  <a:pt x="11750" y="12960"/>
                  <a:pt x="11850" y="12940"/>
                  <a:pt x="12241" y="14148"/>
                </a:cubicBezTo>
                <a:cubicBezTo>
                  <a:pt x="12514" y="14991"/>
                  <a:pt x="12594" y="15146"/>
                  <a:pt x="12795" y="15200"/>
                </a:cubicBezTo>
                <a:cubicBezTo>
                  <a:pt x="12924" y="15236"/>
                  <a:pt x="13045" y="15195"/>
                  <a:pt x="13064" y="15110"/>
                </a:cubicBezTo>
                <a:cubicBezTo>
                  <a:pt x="13082" y="15025"/>
                  <a:pt x="13069" y="15001"/>
                  <a:pt x="13035" y="15062"/>
                </a:cubicBezTo>
                <a:cubicBezTo>
                  <a:pt x="12973" y="15171"/>
                  <a:pt x="12879" y="14903"/>
                  <a:pt x="12878" y="14607"/>
                </a:cubicBezTo>
                <a:cubicBezTo>
                  <a:pt x="12877" y="14524"/>
                  <a:pt x="12810" y="14336"/>
                  <a:pt x="12727" y="14193"/>
                </a:cubicBezTo>
                <a:cubicBezTo>
                  <a:pt x="12562" y="13910"/>
                  <a:pt x="12114" y="12531"/>
                  <a:pt x="12187" y="12531"/>
                </a:cubicBezTo>
                <a:cubicBezTo>
                  <a:pt x="12211" y="12531"/>
                  <a:pt x="12186" y="12388"/>
                  <a:pt x="12130" y="12214"/>
                </a:cubicBezTo>
                <a:cubicBezTo>
                  <a:pt x="12038" y="11923"/>
                  <a:pt x="12038" y="11866"/>
                  <a:pt x="12122" y="11500"/>
                </a:cubicBezTo>
                <a:cubicBezTo>
                  <a:pt x="12172" y="11281"/>
                  <a:pt x="12199" y="11062"/>
                  <a:pt x="12182" y="11014"/>
                </a:cubicBezTo>
                <a:cubicBezTo>
                  <a:pt x="12165" y="10966"/>
                  <a:pt x="12256" y="10656"/>
                  <a:pt x="12384" y="10325"/>
                </a:cubicBezTo>
                <a:cubicBezTo>
                  <a:pt x="12512" y="9995"/>
                  <a:pt x="12601" y="9725"/>
                  <a:pt x="12579" y="9725"/>
                </a:cubicBezTo>
                <a:cubicBezTo>
                  <a:pt x="12557" y="9725"/>
                  <a:pt x="12599" y="9542"/>
                  <a:pt x="12673" y="9318"/>
                </a:cubicBezTo>
                <a:cubicBezTo>
                  <a:pt x="12747" y="9094"/>
                  <a:pt x="12826" y="8941"/>
                  <a:pt x="12847" y="8980"/>
                </a:cubicBezTo>
                <a:cubicBezTo>
                  <a:pt x="12869" y="9018"/>
                  <a:pt x="12887" y="8943"/>
                  <a:pt x="12887" y="8811"/>
                </a:cubicBezTo>
                <a:cubicBezTo>
                  <a:pt x="12887" y="8651"/>
                  <a:pt x="12825" y="8573"/>
                  <a:pt x="12703" y="8573"/>
                </a:cubicBezTo>
                <a:cubicBezTo>
                  <a:pt x="12569" y="8573"/>
                  <a:pt x="12458" y="8735"/>
                  <a:pt x="12295" y="9187"/>
                </a:cubicBezTo>
                <a:cubicBezTo>
                  <a:pt x="12173" y="9527"/>
                  <a:pt x="12074" y="9845"/>
                  <a:pt x="12074" y="9890"/>
                </a:cubicBezTo>
                <a:cubicBezTo>
                  <a:pt x="12074" y="10048"/>
                  <a:pt x="11811" y="10364"/>
                  <a:pt x="11784" y="10238"/>
                </a:cubicBezTo>
                <a:cubicBezTo>
                  <a:pt x="11769" y="10169"/>
                  <a:pt x="11753" y="8999"/>
                  <a:pt x="11749" y="7642"/>
                </a:cubicBezTo>
                <a:lnTo>
                  <a:pt x="11740" y="5174"/>
                </a:lnTo>
                <a:close/>
                <a:moveTo>
                  <a:pt x="9846" y="5932"/>
                </a:moveTo>
                <a:cubicBezTo>
                  <a:pt x="8974" y="5932"/>
                  <a:pt x="8804" y="5968"/>
                  <a:pt x="8804" y="6170"/>
                </a:cubicBezTo>
                <a:cubicBezTo>
                  <a:pt x="8804" y="6355"/>
                  <a:pt x="8906" y="6422"/>
                  <a:pt x="9243" y="6460"/>
                </a:cubicBezTo>
                <a:lnTo>
                  <a:pt x="9681" y="6511"/>
                </a:lnTo>
                <a:lnTo>
                  <a:pt x="9674" y="10673"/>
                </a:lnTo>
                <a:cubicBezTo>
                  <a:pt x="9671" y="12964"/>
                  <a:pt x="9654" y="14944"/>
                  <a:pt x="9637" y="15072"/>
                </a:cubicBezTo>
                <a:cubicBezTo>
                  <a:pt x="9613" y="15245"/>
                  <a:pt x="9656" y="15295"/>
                  <a:pt x="9799" y="15276"/>
                </a:cubicBezTo>
                <a:lnTo>
                  <a:pt x="9990" y="15252"/>
                </a:lnTo>
                <a:lnTo>
                  <a:pt x="10019" y="10880"/>
                </a:lnTo>
                <a:lnTo>
                  <a:pt x="10048" y="6511"/>
                </a:lnTo>
                <a:lnTo>
                  <a:pt x="10466" y="6460"/>
                </a:lnTo>
                <a:cubicBezTo>
                  <a:pt x="10786" y="6423"/>
                  <a:pt x="10884" y="6354"/>
                  <a:pt x="10884" y="6170"/>
                </a:cubicBezTo>
                <a:cubicBezTo>
                  <a:pt x="10884" y="5969"/>
                  <a:pt x="10717" y="5932"/>
                  <a:pt x="9846" y="5932"/>
                </a:cubicBezTo>
                <a:close/>
                <a:moveTo>
                  <a:pt x="13493" y="5932"/>
                </a:moveTo>
                <a:cubicBezTo>
                  <a:pt x="13288" y="5932"/>
                  <a:pt x="13273" y="5966"/>
                  <a:pt x="13273" y="6408"/>
                </a:cubicBezTo>
                <a:cubicBezTo>
                  <a:pt x="13273" y="6863"/>
                  <a:pt x="13282" y="6881"/>
                  <a:pt x="13522" y="6860"/>
                </a:cubicBezTo>
                <a:cubicBezTo>
                  <a:pt x="13706" y="6843"/>
                  <a:pt x="13766" y="6779"/>
                  <a:pt x="13745" y="6618"/>
                </a:cubicBezTo>
                <a:cubicBezTo>
                  <a:pt x="13728" y="6497"/>
                  <a:pt x="13716" y="6295"/>
                  <a:pt x="13716" y="6167"/>
                </a:cubicBezTo>
                <a:cubicBezTo>
                  <a:pt x="13716" y="6005"/>
                  <a:pt x="13646" y="5932"/>
                  <a:pt x="13493" y="5932"/>
                </a:cubicBezTo>
                <a:close/>
                <a:moveTo>
                  <a:pt x="17095" y="6563"/>
                </a:moveTo>
                <a:cubicBezTo>
                  <a:pt x="17077" y="6568"/>
                  <a:pt x="17055" y="6596"/>
                  <a:pt x="17024" y="6636"/>
                </a:cubicBezTo>
                <a:cubicBezTo>
                  <a:pt x="16921" y="6771"/>
                  <a:pt x="16894" y="6963"/>
                  <a:pt x="16880" y="7646"/>
                </a:cubicBezTo>
                <a:cubicBezTo>
                  <a:pt x="16863" y="8464"/>
                  <a:pt x="16856" y="8492"/>
                  <a:pt x="16674" y="8542"/>
                </a:cubicBezTo>
                <a:cubicBezTo>
                  <a:pt x="16430" y="8609"/>
                  <a:pt x="16415" y="9066"/>
                  <a:pt x="16656" y="9066"/>
                </a:cubicBezTo>
                <a:cubicBezTo>
                  <a:pt x="16750" y="9066"/>
                  <a:pt x="16840" y="9131"/>
                  <a:pt x="16857" y="9208"/>
                </a:cubicBezTo>
                <a:cubicBezTo>
                  <a:pt x="16873" y="9285"/>
                  <a:pt x="16889" y="10656"/>
                  <a:pt x="16893" y="12259"/>
                </a:cubicBezTo>
                <a:cubicBezTo>
                  <a:pt x="16897" y="13861"/>
                  <a:pt x="16918" y="15140"/>
                  <a:pt x="16941" y="15100"/>
                </a:cubicBezTo>
                <a:cubicBezTo>
                  <a:pt x="16964" y="15059"/>
                  <a:pt x="17020" y="15095"/>
                  <a:pt x="17066" y="15179"/>
                </a:cubicBezTo>
                <a:cubicBezTo>
                  <a:pt x="17163" y="15353"/>
                  <a:pt x="17623" y="15367"/>
                  <a:pt x="17770" y="15200"/>
                </a:cubicBezTo>
                <a:cubicBezTo>
                  <a:pt x="17954" y="14992"/>
                  <a:pt x="17793" y="14619"/>
                  <a:pt x="17570" y="14738"/>
                </a:cubicBezTo>
                <a:cubicBezTo>
                  <a:pt x="17376" y="14843"/>
                  <a:pt x="17211" y="14570"/>
                  <a:pt x="17178" y="14097"/>
                </a:cubicBezTo>
                <a:cubicBezTo>
                  <a:pt x="17172" y="14007"/>
                  <a:pt x="17155" y="13857"/>
                  <a:pt x="17142" y="13762"/>
                </a:cubicBezTo>
                <a:cubicBezTo>
                  <a:pt x="17129" y="13666"/>
                  <a:pt x="17126" y="12586"/>
                  <a:pt x="17135" y="11366"/>
                </a:cubicBezTo>
                <a:lnTo>
                  <a:pt x="17152" y="9149"/>
                </a:lnTo>
                <a:lnTo>
                  <a:pt x="17478" y="9101"/>
                </a:lnTo>
                <a:cubicBezTo>
                  <a:pt x="17727" y="9063"/>
                  <a:pt x="17809" y="8985"/>
                  <a:pt x="17829" y="8770"/>
                </a:cubicBezTo>
                <a:cubicBezTo>
                  <a:pt x="17851" y="8527"/>
                  <a:pt x="17806" y="8486"/>
                  <a:pt x="17503" y="8487"/>
                </a:cubicBezTo>
                <a:lnTo>
                  <a:pt x="17152" y="8490"/>
                </a:lnTo>
                <a:lnTo>
                  <a:pt x="17152" y="7480"/>
                </a:lnTo>
                <a:cubicBezTo>
                  <a:pt x="17152" y="6745"/>
                  <a:pt x="17148" y="6548"/>
                  <a:pt x="17095" y="6563"/>
                </a:cubicBezTo>
                <a:close/>
                <a:moveTo>
                  <a:pt x="18441" y="8446"/>
                </a:moveTo>
                <a:lnTo>
                  <a:pt x="18296" y="9083"/>
                </a:lnTo>
                <a:cubicBezTo>
                  <a:pt x="18214" y="9433"/>
                  <a:pt x="18129" y="9689"/>
                  <a:pt x="18107" y="9649"/>
                </a:cubicBezTo>
                <a:cubicBezTo>
                  <a:pt x="18084" y="9609"/>
                  <a:pt x="18066" y="9792"/>
                  <a:pt x="18066" y="10059"/>
                </a:cubicBezTo>
                <a:cubicBezTo>
                  <a:pt x="18066" y="10326"/>
                  <a:pt x="18018" y="10696"/>
                  <a:pt x="17960" y="10880"/>
                </a:cubicBezTo>
                <a:cubicBezTo>
                  <a:pt x="17869" y="11167"/>
                  <a:pt x="17864" y="11269"/>
                  <a:pt x="17929" y="11614"/>
                </a:cubicBezTo>
                <a:cubicBezTo>
                  <a:pt x="17973" y="11849"/>
                  <a:pt x="17985" y="12135"/>
                  <a:pt x="17959" y="12311"/>
                </a:cubicBezTo>
                <a:cubicBezTo>
                  <a:pt x="17880" y="12833"/>
                  <a:pt x="17872" y="13190"/>
                  <a:pt x="17940" y="13148"/>
                </a:cubicBezTo>
                <a:cubicBezTo>
                  <a:pt x="18007" y="13106"/>
                  <a:pt x="18119" y="13978"/>
                  <a:pt x="18073" y="14190"/>
                </a:cubicBezTo>
                <a:cubicBezTo>
                  <a:pt x="18059" y="14257"/>
                  <a:pt x="18090" y="14357"/>
                  <a:pt x="18142" y="14414"/>
                </a:cubicBezTo>
                <a:cubicBezTo>
                  <a:pt x="18194" y="14471"/>
                  <a:pt x="18219" y="14566"/>
                  <a:pt x="18198" y="14624"/>
                </a:cubicBezTo>
                <a:cubicBezTo>
                  <a:pt x="18140" y="14790"/>
                  <a:pt x="18396" y="15226"/>
                  <a:pt x="18587" y="15286"/>
                </a:cubicBezTo>
                <a:cubicBezTo>
                  <a:pt x="18682" y="15315"/>
                  <a:pt x="18773" y="15381"/>
                  <a:pt x="18791" y="15434"/>
                </a:cubicBezTo>
                <a:cubicBezTo>
                  <a:pt x="18810" y="15487"/>
                  <a:pt x="18943" y="15475"/>
                  <a:pt x="19086" y="15407"/>
                </a:cubicBezTo>
                <a:cubicBezTo>
                  <a:pt x="19229" y="15340"/>
                  <a:pt x="19415" y="15281"/>
                  <a:pt x="19500" y="15272"/>
                </a:cubicBezTo>
                <a:cubicBezTo>
                  <a:pt x="19584" y="15263"/>
                  <a:pt x="19642" y="15201"/>
                  <a:pt x="19629" y="15138"/>
                </a:cubicBezTo>
                <a:cubicBezTo>
                  <a:pt x="19615" y="15076"/>
                  <a:pt x="19647" y="14954"/>
                  <a:pt x="19701" y="14869"/>
                </a:cubicBezTo>
                <a:cubicBezTo>
                  <a:pt x="19754" y="14783"/>
                  <a:pt x="19801" y="14523"/>
                  <a:pt x="19804" y="14293"/>
                </a:cubicBezTo>
                <a:cubicBezTo>
                  <a:pt x="19810" y="13947"/>
                  <a:pt x="19795" y="13903"/>
                  <a:pt x="19713" y="14028"/>
                </a:cubicBezTo>
                <a:cubicBezTo>
                  <a:pt x="19658" y="14111"/>
                  <a:pt x="19558" y="14179"/>
                  <a:pt x="19490" y="14179"/>
                </a:cubicBezTo>
                <a:cubicBezTo>
                  <a:pt x="19423" y="14179"/>
                  <a:pt x="19383" y="14250"/>
                  <a:pt x="19401" y="14334"/>
                </a:cubicBezTo>
                <a:cubicBezTo>
                  <a:pt x="19451" y="14563"/>
                  <a:pt x="19337" y="14706"/>
                  <a:pt x="19068" y="14752"/>
                </a:cubicBezTo>
                <a:cubicBezTo>
                  <a:pt x="18812" y="14796"/>
                  <a:pt x="18601" y="14589"/>
                  <a:pt x="18653" y="14348"/>
                </a:cubicBezTo>
                <a:cubicBezTo>
                  <a:pt x="18685" y="14200"/>
                  <a:pt x="18579" y="13939"/>
                  <a:pt x="18486" y="13934"/>
                </a:cubicBezTo>
                <a:cubicBezTo>
                  <a:pt x="18418" y="13931"/>
                  <a:pt x="18344" y="13333"/>
                  <a:pt x="18379" y="13066"/>
                </a:cubicBezTo>
                <a:cubicBezTo>
                  <a:pt x="18394" y="12952"/>
                  <a:pt x="18373" y="12748"/>
                  <a:pt x="18334" y="12614"/>
                </a:cubicBezTo>
                <a:cubicBezTo>
                  <a:pt x="18295" y="12480"/>
                  <a:pt x="18280" y="12258"/>
                  <a:pt x="18298" y="12121"/>
                </a:cubicBezTo>
                <a:cubicBezTo>
                  <a:pt x="18326" y="11915"/>
                  <a:pt x="18469" y="11869"/>
                  <a:pt x="19114" y="11869"/>
                </a:cubicBezTo>
                <a:lnTo>
                  <a:pt x="19893" y="11869"/>
                </a:lnTo>
                <a:lnTo>
                  <a:pt x="19893" y="11407"/>
                </a:lnTo>
                <a:cubicBezTo>
                  <a:pt x="19893" y="11153"/>
                  <a:pt x="19927" y="10853"/>
                  <a:pt x="19967" y="10738"/>
                </a:cubicBezTo>
                <a:cubicBezTo>
                  <a:pt x="20024" y="10571"/>
                  <a:pt x="20019" y="10500"/>
                  <a:pt x="19938" y="10369"/>
                </a:cubicBezTo>
                <a:cubicBezTo>
                  <a:pt x="19882" y="10280"/>
                  <a:pt x="19837" y="10127"/>
                  <a:pt x="19837" y="10032"/>
                </a:cubicBezTo>
                <a:cubicBezTo>
                  <a:pt x="19837" y="9938"/>
                  <a:pt x="19783" y="9643"/>
                  <a:pt x="19718" y="9380"/>
                </a:cubicBezTo>
                <a:cubicBezTo>
                  <a:pt x="19652" y="9116"/>
                  <a:pt x="19617" y="8901"/>
                  <a:pt x="19642" y="8901"/>
                </a:cubicBezTo>
                <a:cubicBezTo>
                  <a:pt x="19666" y="8901"/>
                  <a:pt x="19653" y="8809"/>
                  <a:pt x="19614" y="8697"/>
                </a:cubicBezTo>
                <a:cubicBezTo>
                  <a:pt x="19569" y="8568"/>
                  <a:pt x="19343" y="8485"/>
                  <a:pt x="18995" y="8470"/>
                </a:cubicBezTo>
                <a:lnTo>
                  <a:pt x="18441" y="8446"/>
                </a:lnTo>
                <a:close/>
                <a:moveTo>
                  <a:pt x="15245" y="8463"/>
                </a:moveTo>
                <a:cubicBezTo>
                  <a:pt x="15068" y="8496"/>
                  <a:pt x="14900" y="8597"/>
                  <a:pt x="14837" y="8746"/>
                </a:cubicBezTo>
                <a:cubicBezTo>
                  <a:pt x="14782" y="8878"/>
                  <a:pt x="14731" y="8889"/>
                  <a:pt x="14683" y="8780"/>
                </a:cubicBezTo>
                <a:cubicBezTo>
                  <a:pt x="14643" y="8690"/>
                  <a:pt x="14544" y="8583"/>
                  <a:pt x="14464" y="8542"/>
                </a:cubicBezTo>
                <a:lnTo>
                  <a:pt x="14321" y="8470"/>
                </a:lnTo>
                <a:lnTo>
                  <a:pt x="14338" y="11818"/>
                </a:lnTo>
                <a:lnTo>
                  <a:pt x="14355" y="15169"/>
                </a:lnTo>
                <a:lnTo>
                  <a:pt x="14494" y="15169"/>
                </a:lnTo>
                <a:lnTo>
                  <a:pt x="14636" y="15169"/>
                </a:lnTo>
                <a:lnTo>
                  <a:pt x="14652" y="12900"/>
                </a:lnTo>
                <a:cubicBezTo>
                  <a:pt x="14663" y="11357"/>
                  <a:pt x="14687" y="10643"/>
                  <a:pt x="14730" y="10666"/>
                </a:cubicBezTo>
                <a:cubicBezTo>
                  <a:pt x="14765" y="10684"/>
                  <a:pt x="14792" y="10497"/>
                  <a:pt x="14789" y="10252"/>
                </a:cubicBezTo>
                <a:cubicBezTo>
                  <a:pt x="14785" y="9977"/>
                  <a:pt x="14811" y="9823"/>
                  <a:pt x="14855" y="9849"/>
                </a:cubicBezTo>
                <a:cubicBezTo>
                  <a:pt x="14895" y="9871"/>
                  <a:pt x="14926" y="9782"/>
                  <a:pt x="14926" y="9649"/>
                </a:cubicBezTo>
                <a:cubicBezTo>
                  <a:pt x="14926" y="9420"/>
                  <a:pt x="15202" y="8901"/>
                  <a:pt x="15323" y="8901"/>
                </a:cubicBezTo>
                <a:cubicBezTo>
                  <a:pt x="15353" y="8901"/>
                  <a:pt x="15426" y="9106"/>
                  <a:pt x="15484" y="9356"/>
                </a:cubicBezTo>
                <a:cubicBezTo>
                  <a:pt x="15543" y="9605"/>
                  <a:pt x="15630" y="9807"/>
                  <a:pt x="15678" y="9807"/>
                </a:cubicBezTo>
                <a:cubicBezTo>
                  <a:pt x="15737" y="9807"/>
                  <a:pt x="15760" y="9946"/>
                  <a:pt x="15749" y="10249"/>
                </a:cubicBezTo>
                <a:cubicBezTo>
                  <a:pt x="15740" y="10491"/>
                  <a:pt x="15759" y="10739"/>
                  <a:pt x="15791" y="10797"/>
                </a:cubicBezTo>
                <a:cubicBezTo>
                  <a:pt x="15827" y="10860"/>
                  <a:pt x="15851" y="11754"/>
                  <a:pt x="15851" y="13035"/>
                </a:cubicBezTo>
                <a:lnTo>
                  <a:pt x="15851" y="15169"/>
                </a:lnTo>
                <a:lnTo>
                  <a:pt x="15994" y="15169"/>
                </a:lnTo>
                <a:lnTo>
                  <a:pt x="16141" y="15169"/>
                </a:lnTo>
                <a:lnTo>
                  <a:pt x="16147" y="13148"/>
                </a:lnTo>
                <a:cubicBezTo>
                  <a:pt x="16151" y="12037"/>
                  <a:pt x="16150" y="11003"/>
                  <a:pt x="16145" y="10852"/>
                </a:cubicBezTo>
                <a:cubicBezTo>
                  <a:pt x="16139" y="10701"/>
                  <a:pt x="16162" y="10531"/>
                  <a:pt x="16195" y="10473"/>
                </a:cubicBezTo>
                <a:cubicBezTo>
                  <a:pt x="16279" y="10325"/>
                  <a:pt x="16272" y="10047"/>
                  <a:pt x="16186" y="10097"/>
                </a:cubicBezTo>
                <a:cubicBezTo>
                  <a:pt x="16147" y="10120"/>
                  <a:pt x="16105" y="9951"/>
                  <a:pt x="16093" y="9725"/>
                </a:cubicBezTo>
                <a:cubicBezTo>
                  <a:pt x="16081" y="9498"/>
                  <a:pt x="16034" y="9253"/>
                  <a:pt x="15988" y="9180"/>
                </a:cubicBezTo>
                <a:cubicBezTo>
                  <a:pt x="15943" y="9106"/>
                  <a:pt x="15921" y="8974"/>
                  <a:pt x="15940" y="8887"/>
                </a:cubicBezTo>
                <a:cubicBezTo>
                  <a:pt x="15959" y="8799"/>
                  <a:pt x="15953" y="8742"/>
                  <a:pt x="15927" y="8759"/>
                </a:cubicBezTo>
                <a:cubicBezTo>
                  <a:pt x="15901" y="8776"/>
                  <a:pt x="15803" y="8694"/>
                  <a:pt x="15708" y="8580"/>
                </a:cubicBezTo>
                <a:cubicBezTo>
                  <a:pt x="15608" y="8461"/>
                  <a:pt x="15422" y="8430"/>
                  <a:pt x="15245" y="8463"/>
                </a:cubicBezTo>
                <a:close/>
                <a:moveTo>
                  <a:pt x="21468" y="8473"/>
                </a:moveTo>
                <a:cubicBezTo>
                  <a:pt x="21425" y="8471"/>
                  <a:pt x="21370" y="8477"/>
                  <a:pt x="21295" y="8487"/>
                </a:cubicBezTo>
                <a:cubicBezTo>
                  <a:pt x="21104" y="8511"/>
                  <a:pt x="20948" y="8632"/>
                  <a:pt x="20880" y="8808"/>
                </a:cubicBezTo>
                <a:cubicBezTo>
                  <a:pt x="20787" y="9048"/>
                  <a:pt x="20762" y="9055"/>
                  <a:pt x="20721" y="8856"/>
                </a:cubicBezTo>
                <a:cubicBezTo>
                  <a:pt x="20652" y="8521"/>
                  <a:pt x="20338" y="8365"/>
                  <a:pt x="20382" y="8687"/>
                </a:cubicBezTo>
                <a:cubicBezTo>
                  <a:pt x="20399" y="8819"/>
                  <a:pt x="20413" y="10332"/>
                  <a:pt x="20413" y="12049"/>
                </a:cubicBezTo>
                <a:lnTo>
                  <a:pt x="20413" y="15169"/>
                </a:lnTo>
                <a:lnTo>
                  <a:pt x="20557" y="15169"/>
                </a:lnTo>
                <a:lnTo>
                  <a:pt x="20704" y="15169"/>
                </a:lnTo>
                <a:lnTo>
                  <a:pt x="20704" y="13183"/>
                </a:lnTo>
                <a:cubicBezTo>
                  <a:pt x="20704" y="11536"/>
                  <a:pt x="20718" y="11182"/>
                  <a:pt x="20793" y="11100"/>
                </a:cubicBezTo>
                <a:cubicBezTo>
                  <a:pt x="20850" y="11038"/>
                  <a:pt x="20878" y="10840"/>
                  <a:pt x="20868" y="10569"/>
                </a:cubicBezTo>
                <a:cubicBezTo>
                  <a:pt x="20850" y="10090"/>
                  <a:pt x="20916" y="9675"/>
                  <a:pt x="20989" y="9804"/>
                </a:cubicBezTo>
                <a:cubicBezTo>
                  <a:pt x="21015" y="9850"/>
                  <a:pt x="21033" y="9761"/>
                  <a:pt x="21029" y="9608"/>
                </a:cubicBezTo>
                <a:cubicBezTo>
                  <a:pt x="21024" y="9456"/>
                  <a:pt x="21085" y="9239"/>
                  <a:pt x="21164" y="9125"/>
                </a:cubicBezTo>
                <a:cubicBezTo>
                  <a:pt x="21282" y="8953"/>
                  <a:pt x="21322" y="8957"/>
                  <a:pt x="21398" y="9156"/>
                </a:cubicBezTo>
                <a:cubicBezTo>
                  <a:pt x="21538" y="9517"/>
                  <a:pt x="21598" y="9446"/>
                  <a:pt x="21598" y="8921"/>
                </a:cubicBezTo>
                <a:cubicBezTo>
                  <a:pt x="21598" y="8571"/>
                  <a:pt x="21596" y="8481"/>
                  <a:pt x="21468" y="8473"/>
                </a:cubicBezTo>
                <a:close/>
                <a:moveTo>
                  <a:pt x="13524" y="8508"/>
                </a:moveTo>
                <a:lnTo>
                  <a:pt x="13281" y="8525"/>
                </a:lnTo>
                <a:lnTo>
                  <a:pt x="13266" y="11638"/>
                </a:lnTo>
                <a:cubicBezTo>
                  <a:pt x="13257" y="13349"/>
                  <a:pt x="13264" y="14842"/>
                  <a:pt x="13279" y="14958"/>
                </a:cubicBezTo>
                <a:cubicBezTo>
                  <a:pt x="13295" y="15074"/>
                  <a:pt x="13385" y="15169"/>
                  <a:pt x="13481" y="15169"/>
                </a:cubicBezTo>
                <a:lnTo>
                  <a:pt x="13658" y="15169"/>
                </a:lnTo>
                <a:lnTo>
                  <a:pt x="13658" y="11986"/>
                </a:lnTo>
                <a:cubicBezTo>
                  <a:pt x="13658" y="10192"/>
                  <a:pt x="13680" y="8735"/>
                  <a:pt x="13711" y="8646"/>
                </a:cubicBezTo>
                <a:cubicBezTo>
                  <a:pt x="13746" y="8547"/>
                  <a:pt x="13677" y="8496"/>
                  <a:pt x="13524" y="8508"/>
                </a:cubicBezTo>
                <a:close/>
                <a:moveTo>
                  <a:pt x="19004" y="8925"/>
                </a:moveTo>
                <a:cubicBezTo>
                  <a:pt x="19134" y="8939"/>
                  <a:pt x="19264" y="9070"/>
                  <a:pt x="19370" y="9325"/>
                </a:cubicBezTo>
                <a:cubicBezTo>
                  <a:pt x="19548" y="9753"/>
                  <a:pt x="19700" y="10870"/>
                  <a:pt x="19641" y="11311"/>
                </a:cubicBezTo>
                <a:cubicBezTo>
                  <a:pt x="19617" y="11490"/>
                  <a:pt x="19460" y="11542"/>
                  <a:pt x="18951" y="11542"/>
                </a:cubicBezTo>
                <a:cubicBezTo>
                  <a:pt x="18590" y="11542"/>
                  <a:pt x="18281" y="11496"/>
                  <a:pt x="18263" y="11445"/>
                </a:cubicBezTo>
                <a:cubicBezTo>
                  <a:pt x="18217" y="11314"/>
                  <a:pt x="18328" y="10239"/>
                  <a:pt x="18435" y="9770"/>
                </a:cubicBezTo>
                <a:cubicBezTo>
                  <a:pt x="18566" y="9199"/>
                  <a:pt x="18788" y="8901"/>
                  <a:pt x="19004" y="8925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- id (INTEGER, PRIMARY KEY)…"/>
          <p:cNvSpPr txBox="1"/>
          <p:nvPr>
            <p:ph type="body" idx="1"/>
          </p:nvPr>
        </p:nvSpPr>
        <p:spPr>
          <a:xfrm>
            <a:off x="1206499" y="2960804"/>
            <a:ext cx="21971002" cy="10026161"/>
          </a:xfrm>
          <a:prstGeom prst="rect">
            <a:avLst/>
          </a:prstGeom>
        </p:spPr>
        <p:txBody>
          <a:bodyPr/>
          <a:lstStyle/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id (INTEGER, PRIMARY KEY) - уникальный идентификатор 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title (TEXT, NOT NULL)       - название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description (TEXT)           - описание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is_done (BOOLEAN/INTEGER)   - статус выполнения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created_at (DATETIME)        - дата создания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updated_at (DATETIME)        - дата обновления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due_date (DATETIME)          - срок выполнения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priority (TEXT)              - приоритет</a:t>
            </a:r>
          </a:p>
          <a:p>
            <a: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 category (TEXT)              - категория (связь с таблицей categories)</a:t>
            </a:r>
          </a:p>
        </p:txBody>
      </p:sp>
      <p:sp>
        <p:nvSpPr>
          <p:cNvPr id="191" name="Проектирование базы данных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Атрибуты задачи в БД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Добавление задачи (add_task):…"/>
          <p:cNvSpPr txBox="1"/>
          <p:nvPr>
            <p:ph type="body" sz="half" idx="1"/>
          </p:nvPr>
        </p:nvSpPr>
        <p:spPr>
          <a:xfrm>
            <a:off x="1206500" y="2278048"/>
            <a:ext cx="11293556" cy="10796152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600"/>
              </a:spcBef>
              <a:defRPr b="1"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Добавление задачи (add_task):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запрос INSERT;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автоматическое заполнение created_at</a:t>
            </a:r>
          </a:p>
          <a:p>
            <a:pPr defTabSz="457200">
              <a:spcBef>
                <a:spcPts val="1600"/>
              </a:spcBef>
              <a:defRPr b="1"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Редактирование задачи (update_task):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запрос UPDATE ... WHERE id=?;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обновление указанных полей;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проверка существования задачи.</a:t>
            </a:r>
          </a:p>
          <a:p>
            <a:pPr defTabSz="457200">
              <a:spcBef>
                <a:spcPts val="1600"/>
              </a:spcBef>
              <a:defRPr b="1"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Удаление задачи (delete_task):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запрос DELETE ... WHERE id=?;</a:t>
            </a:r>
          </a:p>
          <a:p>
            <a:pPr lvl="2" marL="1231900" indent="-317500" defTabSz="457200">
              <a:buClr>
                <a:srgbClr val="0F1115"/>
              </a:buClr>
              <a:buFont typeface="Helvetica Neue"/>
              <a:defRPr sz="450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физическое удаление записи.</a:t>
            </a:r>
          </a:p>
        </p:txBody>
      </p:sp>
      <p:sp>
        <p:nvSpPr>
          <p:cNvPr id="194" name="Реализация. Ключевые методы. (Примеры на python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66">
              <a:defRPr sz="7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Реализация. Ключевые методы.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Добавление: Корректное сохранение, валидация обязательных полей.…"/>
          <p:cNvSpPr txBox="1"/>
          <p:nvPr>
            <p:ph type="body" sz="quarter" idx="1"/>
          </p:nvPr>
        </p:nvSpPr>
        <p:spPr>
          <a:xfrm>
            <a:off x="530754" y="2370150"/>
            <a:ext cx="23467040" cy="2230110"/>
          </a:xfrm>
          <a:prstGeom prst="rect">
            <a:avLst/>
          </a:prstGeom>
        </p:spPr>
        <p:txBody>
          <a:bodyPr lIns="571500" tIns="571500" rIns="571500" bIns="571500"/>
          <a:lstStyle/>
          <a:p>
            <a:pPr defTabSz="457200">
              <a:lnSpc>
                <a:spcPct val="120000"/>
              </a:lnSpc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Добавление:</a:t>
            </a:r>
            <a:r>
              <a:rPr b="0"/>
              <a:t> Корректное сохранение, валидация обязательных полей</a:t>
            </a:r>
          </a:p>
        </p:txBody>
      </p:sp>
      <p:sp>
        <p:nvSpPr>
          <p:cNvPr id="197" name="Тестирование и результат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Тестирование и результаты </a:t>
            </a:r>
          </a:p>
        </p:txBody>
      </p:sp>
      <p:pic>
        <p:nvPicPr>
          <p:cNvPr id="198" name="telegram-cloud-document-2-5357313059935261947.jpg" descr="telegram-cloud-document-2-535731305993526194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00861" y="4108225"/>
            <a:ext cx="10384623" cy="549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telegram-cloud-document-2-5357313059935261964.jpg" descr="telegram-cloud-document-2-5357313059935261964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6409" y="4108225"/>
            <a:ext cx="8874271" cy="549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telegram-cloud-document-2-5357313059935261969.jpg" descr="telegram-cloud-document-2-5357313059935261969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7240" y="10399217"/>
            <a:ext cx="9022465" cy="24338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Добавление: Корректное сохранение, валидация обязательных полей.…"/>
          <p:cNvSpPr txBox="1"/>
          <p:nvPr>
            <p:ph type="body" sz="quarter" idx="1"/>
          </p:nvPr>
        </p:nvSpPr>
        <p:spPr>
          <a:xfrm>
            <a:off x="530754" y="2370150"/>
            <a:ext cx="23467040" cy="2230110"/>
          </a:xfrm>
          <a:prstGeom prst="rect">
            <a:avLst/>
          </a:prstGeom>
        </p:spPr>
        <p:txBody>
          <a:bodyPr lIns="571500" tIns="571500" rIns="571500" bIns="571500"/>
          <a:lstStyle/>
          <a:p>
            <a:pPr defTabSz="457200">
              <a:lnSpc>
                <a:spcPct val="120000"/>
              </a:lnSpc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Редактирование:</a:t>
            </a:r>
            <a:r>
              <a:rPr b="0"/>
              <a:t> Изменение полей, обработка несуществующего id.</a:t>
            </a:r>
          </a:p>
        </p:txBody>
      </p:sp>
      <p:sp>
        <p:nvSpPr>
          <p:cNvPr id="203" name="Тестирование и результат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Тестирование и результаты </a:t>
            </a:r>
          </a:p>
        </p:txBody>
      </p:sp>
      <p:pic>
        <p:nvPicPr>
          <p:cNvPr id="204" name="telegram-cloud-document-2-5357313059935261984.jpg" descr="telegram-cloud-document-2-535731305993526198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2848" y="4203303"/>
            <a:ext cx="8178802" cy="8026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telegram-cloud-document-2-5357313059935261969.jpg" descr="telegram-cloud-document-2-5357313059935261969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83932" y="4162411"/>
            <a:ext cx="12550268" cy="33854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telegram-cloud-document-2-5357313059935262121.jpg" descr="telegram-cloud-document-2-5357313059935262121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583932" y="8994926"/>
            <a:ext cx="12550268" cy="31633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Добавление: Корректное сохранение, валидация обязательных полей.…"/>
          <p:cNvSpPr txBox="1"/>
          <p:nvPr>
            <p:ph type="body" sz="quarter" idx="1"/>
          </p:nvPr>
        </p:nvSpPr>
        <p:spPr>
          <a:xfrm>
            <a:off x="530754" y="2370150"/>
            <a:ext cx="23467040" cy="2230110"/>
          </a:xfrm>
          <a:prstGeom prst="rect">
            <a:avLst/>
          </a:prstGeom>
        </p:spPr>
        <p:txBody>
          <a:bodyPr lIns="571500" tIns="571500" rIns="571500" bIns="571500"/>
          <a:lstStyle/>
          <a:p>
            <a:pPr defTabSz="457200">
              <a:lnSpc>
                <a:spcPct val="120000"/>
              </a:lnSpc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b="1"/>
              <a:t>Чтение:</a:t>
            </a:r>
            <a:r>
              <a:t> Корректность выборки всех задач, фильтрации и поиска.</a:t>
            </a:r>
          </a:p>
        </p:txBody>
      </p:sp>
      <p:sp>
        <p:nvSpPr>
          <p:cNvPr id="209" name="Тестирование и результат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Тестирование и результаты </a:t>
            </a:r>
          </a:p>
        </p:txBody>
      </p:sp>
      <p:pic>
        <p:nvPicPr>
          <p:cNvPr id="210" name="telegram-cloud-document-2-5357313059935262088.jpg" descr="telegram-cloud-document-2-535731305993526208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2316" y="4354822"/>
            <a:ext cx="9245601" cy="7124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Добавление: Корректное сохранение, валидация обязательных полей.…"/>
          <p:cNvSpPr txBox="1"/>
          <p:nvPr>
            <p:ph type="body" sz="quarter" idx="1"/>
          </p:nvPr>
        </p:nvSpPr>
        <p:spPr>
          <a:xfrm>
            <a:off x="530754" y="2370150"/>
            <a:ext cx="23467040" cy="2230110"/>
          </a:xfrm>
          <a:prstGeom prst="rect">
            <a:avLst/>
          </a:prstGeom>
        </p:spPr>
        <p:txBody>
          <a:bodyPr lIns="571500" tIns="571500" rIns="571500" bIns="571500"/>
          <a:lstStyle/>
          <a:p>
            <a:pPr defTabSz="457200">
              <a:lnSpc>
                <a:spcPct val="120000"/>
              </a:lnSpc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Удаление:</a:t>
            </a:r>
            <a:r>
              <a:rPr b="0"/>
              <a:t> Удаление существующей и повторное удаление несуществующей записи.</a:t>
            </a:r>
          </a:p>
        </p:txBody>
      </p:sp>
      <p:sp>
        <p:nvSpPr>
          <p:cNvPr id="213" name="Тестирование и результат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Тестирование и результаты </a:t>
            </a:r>
          </a:p>
        </p:txBody>
      </p:sp>
      <p:pic>
        <p:nvPicPr>
          <p:cNvPr id="214" name="telegram-cloud-document-2-5357313059935262106.jpg" descr="telegram-cloud-document-2-53573130599352621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1356" y="4508155"/>
            <a:ext cx="9737681" cy="5250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telegram-cloud-document-2-5357313059935262112.jpg" descr="telegram-cloud-document-2-5357313059935262112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84114" y="4524724"/>
            <a:ext cx="9207502" cy="7061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Достигнутые результаты:…"/>
          <p:cNvSpPr txBox="1"/>
          <p:nvPr>
            <p:ph type="body" sz="half" idx="1"/>
          </p:nvPr>
        </p:nvSpPr>
        <p:spPr>
          <a:xfrm>
            <a:off x="1206500" y="2324098"/>
            <a:ext cx="21971000" cy="5159162"/>
          </a:xfrm>
          <a:prstGeom prst="rect">
            <a:avLst/>
          </a:prstGeom>
        </p:spPr>
        <p:txBody>
          <a:bodyPr/>
          <a:lstStyle/>
          <a:p>
            <a:pPr defTabSz="457200">
              <a:lnSpc>
                <a:spcPct val="120000"/>
              </a:lnSpc>
              <a:spcBef>
                <a:spcPts val="1600"/>
              </a:spcBef>
              <a:defRPr b="1"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Достигнутые результаты:</a:t>
            </a:r>
          </a:p>
          <a:p>
            <a:pPr marL="457200" indent="-317500" defTabSz="457200">
              <a:lnSpc>
                <a:spcPct val="120000"/>
              </a:lnSpc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Разработана локальная система управления задачами.</a:t>
            </a:r>
          </a:p>
          <a:p>
            <a:pPr marL="457200" indent="-317500" defTabSz="457200">
              <a:lnSpc>
                <a:spcPct val="120000"/>
              </a:lnSpc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Реализованы все базовые CRUD-операции.</a:t>
            </a:r>
          </a:p>
          <a:p>
            <a:pPr marL="457200" indent="-317500" defTabSz="457200">
              <a:lnSpc>
                <a:spcPct val="120000"/>
              </a:lnSpc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Обеспечено надежное хранение данных в SQLite.</a:t>
            </a:r>
          </a:p>
          <a:p>
            <a:pPr marL="457200" indent="-317500" defTabSz="457200">
              <a:lnSpc>
                <a:spcPct val="120000"/>
              </a:lnSpc>
              <a:buClr>
                <a:srgbClr val="0F1115"/>
              </a:buClr>
              <a:buSzPct val="100000"/>
              <a:buAutoNum type="arabicPeriod" startAt="1"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Проект демонстрирует практическое применение реляционных баз данных и SQL.</a:t>
            </a:r>
          </a:p>
        </p:txBody>
      </p:sp>
      <p:sp>
        <p:nvSpPr>
          <p:cNvPr id="218" name="Заключ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Заключение</a:t>
            </a:r>
            <a:r>
              <a:rPr>
                <a:latin typeface="Produkt Extralight"/>
                <a:ea typeface="Produkt Extralight"/>
                <a:cs typeface="Produkt Extralight"/>
                <a:sym typeface="Produkt Extralight"/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Достигнутые результаты:…"/>
          <p:cNvSpPr txBox="1"/>
          <p:nvPr>
            <p:ph type="body" sz="half" idx="1"/>
          </p:nvPr>
        </p:nvSpPr>
        <p:spPr>
          <a:xfrm>
            <a:off x="1206500" y="2324098"/>
            <a:ext cx="21971000" cy="5159162"/>
          </a:xfrm>
          <a:prstGeom prst="rect">
            <a:avLst/>
          </a:prstGeom>
        </p:spPr>
        <p:txBody>
          <a:bodyPr/>
          <a:lstStyle/>
          <a:p>
            <a:pPr algn="just" defTabSz="393192">
              <a:lnSpc>
                <a:spcPct val="120000"/>
              </a:lnSpc>
              <a:spcBef>
                <a:spcPts val="800"/>
              </a:spcBef>
              <a:defRPr sz="3870">
                <a:solidFill>
                  <a:srgbClr val="535353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SQLite Documentation. URL: https://www.sqlite.org/docs.html</a:t>
            </a:r>
          </a:p>
          <a:p>
            <a:pPr algn="just" defTabSz="393192">
              <a:lnSpc>
                <a:spcPct val="120000"/>
              </a:lnSpc>
              <a:spcBef>
                <a:spcPts val="800"/>
              </a:spcBef>
              <a:defRPr sz="3870">
                <a:solidFill>
                  <a:srgbClr val="535353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SQLite Query Language (SQL) Documentation. URL: https://www.sqlite.org/lang.html</a:t>
            </a:r>
          </a:p>
          <a:p>
            <a:pPr algn="just" defTabSz="393192">
              <a:lnSpc>
                <a:spcPct val="120000"/>
              </a:lnSpc>
              <a:spcBef>
                <a:spcPts val="800"/>
              </a:spcBef>
              <a:defRPr sz="3870">
                <a:solidFill>
                  <a:srgbClr val="535353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ISO/IEC 9075 (SQL) </a:t>
            </a:r>
            <a:r>
              <a:t>— материалы по стандарту </a:t>
            </a:r>
            <a:r>
              <a:t>SQL (</a:t>
            </a:r>
            <a:r>
              <a:t>справочные сведения</a:t>
            </a:r>
            <a:r>
              <a:t>; </a:t>
            </a:r>
            <a:r>
              <a:t>при необходимости допускается использование учебных пособий по </a:t>
            </a:r>
            <a:r>
              <a:t>SQL).</a:t>
            </a:r>
          </a:p>
          <a:p>
            <a:pPr algn="just" defTabSz="393192">
              <a:lnSpc>
                <a:spcPct val="120000"/>
              </a:lnSpc>
              <a:spcBef>
                <a:spcPts val="800"/>
              </a:spcBef>
              <a:defRPr sz="3870">
                <a:solidFill>
                  <a:srgbClr val="535353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</a:t>
            </a:r>
            <a:r>
              <a:t>Учебные материалы по базам данных</a:t>
            </a:r>
            <a:r>
              <a:t>: </a:t>
            </a:r>
            <a:r>
              <a:t>проектирование реляционных схем</a:t>
            </a:r>
            <a:r>
              <a:t>, </a:t>
            </a:r>
            <a:r>
              <a:t>ключи</a:t>
            </a:r>
            <a:r>
              <a:t>, </a:t>
            </a:r>
            <a:r>
              <a:t>ограничения целостности</a:t>
            </a:r>
            <a:r>
              <a:t>, </a:t>
            </a:r>
            <a:r>
              <a:t>транзакции </a:t>
            </a:r>
            <a:r>
              <a:t>(</a:t>
            </a:r>
            <a:r>
              <a:t>профильные учебники</a:t>
            </a:r>
            <a:r>
              <a:t>/</a:t>
            </a:r>
            <a:r>
              <a:t>конспекты</a:t>
            </a:r>
            <a:r>
              <a:t>).</a:t>
            </a:r>
          </a:p>
          <a:p>
            <a:pPr algn="just" defTabSz="393192">
              <a:lnSpc>
                <a:spcPct val="120000"/>
              </a:lnSpc>
              <a:defRPr sz="3870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Tkinter Documentation URL: https://docs.python.org/3/library/tkinter.html</a:t>
            </a:r>
          </a:p>
        </p:txBody>
      </p:sp>
      <p:sp>
        <p:nvSpPr>
          <p:cNvPr id="221" name="Заключ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7">
              <a:defRPr sz="9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Список использованных источников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Спасибо за внимание!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000" sz="20000"/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A7A7A7"/>
      </a:dk2>
      <a:lt2>
        <a:srgbClr val="535353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